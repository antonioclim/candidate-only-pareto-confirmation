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34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_Background"/>
          <p:cNvSpPr/>
          <p:nvPr/>
        </p:nvSpPr>
        <p:spPr>
          <a:xfrm>
            <a:off x="0" y="0"/>
            <a:ext cx="6480000" cy="34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eft_panel"/>
          <p:cNvSpPr/>
          <p:nvPr/>
        </p:nvSpPr>
        <p:spPr>
          <a:xfrm>
            <a:off x="180000" y="180000"/>
            <a:ext cx="2952000" cy="24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_panel"/>
          <p:cNvSpPr/>
          <p:nvPr/>
        </p:nvSpPr>
        <p:spPr>
          <a:xfrm>
            <a:off x="3348000" y="180000"/>
            <a:ext cx="2952000" cy="24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_title"/>
          <p:cNvSpPr txBox="1"/>
          <p:nvPr/>
        </p:nvSpPr>
        <p:spPr>
          <a:xfrm>
            <a:off x="324000" y="288000"/>
            <a:ext cx="266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7365D"/>
                </a:solidFill>
                <a:latin typeface="Arimo"/>
              </a:rPr>
              <a:t>Candidate-only confirmation</a:t>
            </a:r>
          </a:p>
        </p:txBody>
      </p:sp>
      <p:sp>
        <p:nvSpPr>
          <p:cNvPr id="6" name="right_title"/>
          <p:cNvSpPr txBox="1"/>
          <p:nvPr/>
        </p:nvSpPr>
        <p:spPr>
          <a:xfrm>
            <a:off x="3492000" y="288000"/>
            <a:ext cx="266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7365D"/>
                </a:solidFill>
                <a:latin typeface="Arimo"/>
              </a:rPr>
              <a:t>Full-set classification</a:t>
            </a:r>
          </a:p>
        </p:txBody>
      </p:sp>
      <p:sp>
        <p:nvSpPr>
          <p:cNvPr id="7" name="left_sub"/>
          <p:cNvSpPr txBox="1"/>
          <p:nvPr/>
        </p:nvSpPr>
        <p:spPr>
          <a:xfrm>
            <a:off x="324000" y="547200"/>
            <a:ext cx="266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95959"/>
                </a:solidFill>
                <a:latin typeface="Arimo"/>
              </a:rPr>
              <a:t>Answer map: certify the selected candidate only</a:t>
            </a:r>
          </a:p>
        </p:txBody>
      </p:sp>
      <p:sp>
        <p:nvSpPr>
          <p:cNvPr id="8" name="right_sub"/>
          <p:cNvSpPr txBox="1"/>
          <p:nvPr/>
        </p:nvSpPr>
        <p:spPr>
          <a:xfrm>
            <a:off x="3492000" y="547200"/>
            <a:ext cx="266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95959"/>
                </a:solidFill>
                <a:latin typeface="Arimo"/>
              </a:rPr>
              <a:t>Answer map: classify all alternatives</a:t>
            </a:r>
          </a:p>
        </p:txBody>
      </p:sp>
      <p:cxnSp>
        <p:nvCxnSpPr>
          <p:cNvPr id="9" name="left_arrow_1_shaft"/>
          <p:cNvCxnSpPr/>
          <p:nvPr/>
        </p:nvCxnSpPr>
        <p:spPr>
          <a:xfrm flipH="1">
            <a:off x="1001912" y="1260000"/>
            <a:ext cx="654088" cy="44478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ft_arrow_1_head"/>
          <p:cNvSpPr/>
          <p:nvPr/>
        </p:nvSpPr>
        <p:spPr>
          <a:xfrm rot="14147058">
            <a:off x="922181" y="1683397"/>
            <a:ext cx="90000" cy="90000"/>
          </a:xfrm>
          <a:prstGeom prst="triangle">
            <a:avLst/>
          </a:prstGeom>
          <a:solidFill>
            <a:srgbClr val="595959"/>
          </a:solidFill>
          <a:ln w="25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left_arrow_2_shaft"/>
          <p:cNvCxnSpPr/>
          <p:nvPr/>
        </p:nvCxnSpPr>
        <p:spPr>
          <a:xfrm flipH="1">
            <a:off x="1561352" y="1260000"/>
            <a:ext cx="94648" cy="520564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eft_arrow_2_head"/>
          <p:cNvSpPr/>
          <p:nvPr/>
        </p:nvSpPr>
        <p:spPr>
          <a:xfrm rot="11418291">
            <a:off x="1508839" y="1776886"/>
            <a:ext cx="90000" cy="90000"/>
          </a:xfrm>
          <a:prstGeom prst="triangle">
            <a:avLst/>
          </a:prstGeom>
          <a:solidFill>
            <a:srgbClr val="595959"/>
          </a:solidFill>
          <a:ln w="25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left_arrow_3_shaft"/>
          <p:cNvCxnSpPr/>
          <p:nvPr/>
        </p:nvCxnSpPr>
        <p:spPr>
          <a:xfrm>
            <a:off x="1656000" y="1260000"/>
            <a:ext cx="406545" cy="406545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eft_arrow_3_head"/>
          <p:cNvSpPr/>
          <p:nvPr/>
        </p:nvSpPr>
        <p:spPr>
          <a:xfrm rot="8100000">
            <a:off x="2047244" y="1651244"/>
            <a:ext cx="90000" cy="90000"/>
          </a:xfrm>
          <a:prstGeom prst="triangle">
            <a:avLst/>
          </a:prstGeom>
          <a:solidFill>
            <a:srgbClr val="595959"/>
          </a:solidFill>
          <a:ln w="25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_c_hex"/>
          <p:cNvSpPr/>
          <p:nvPr/>
        </p:nvSpPr>
        <p:spPr>
          <a:xfrm>
            <a:off x="1332000" y="936000"/>
            <a:ext cx="648000" cy="396000"/>
          </a:xfrm>
          <a:prstGeom prst="hexagon">
            <a:avLst/>
          </a:prstGeom>
          <a:solidFill>
            <a:srgbClr val="FFF2CC"/>
          </a:solidFill>
          <a:ln w="15240">
            <a:solidFill>
              <a:srgbClr val="A3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_c_text"/>
          <p:cNvSpPr txBox="1"/>
          <p:nvPr/>
        </p:nvSpPr>
        <p:spPr>
          <a:xfrm>
            <a:off x="1332000" y="936000"/>
            <a:ext cx="648000" cy="39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1">
                <a:solidFill>
                  <a:srgbClr val="A34B00"/>
                </a:solidFill>
                <a:latin typeface="Arimo"/>
              </a:rPr>
              <a:t>c</a:t>
            </a:r>
          </a:p>
        </p:txBody>
      </p:sp>
      <p:sp>
        <p:nvSpPr>
          <p:cNvPr id="17" name="left_a1_circle"/>
          <p:cNvSpPr/>
          <p:nvPr/>
        </p:nvSpPr>
        <p:spPr>
          <a:xfrm>
            <a:off x="540000" y="1692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_a1_text"/>
          <p:cNvSpPr txBox="1"/>
          <p:nvPr/>
        </p:nvSpPr>
        <p:spPr>
          <a:xfrm>
            <a:off x="540000" y="1692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a1</a:t>
            </a:r>
          </a:p>
        </p:txBody>
      </p:sp>
      <p:sp>
        <p:nvSpPr>
          <p:cNvPr id="19" name="left_a2_circle"/>
          <p:cNvSpPr/>
          <p:nvPr/>
        </p:nvSpPr>
        <p:spPr>
          <a:xfrm>
            <a:off x="1296000" y="1872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_a2_text"/>
          <p:cNvSpPr txBox="1"/>
          <p:nvPr/>
        </p:nvSpPr>
        <p:spPr>
          <a:xfrm>
            <a:off x="1296000" y="1872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a2</a:t>
            </a:r>
          </a:p>
        </p:txBody>
      </p:sp>
      <p:sp>
        <p:nvSpPr>
          <p:cNvPr id="21" name="left_a3_circle"/>
          <p:cNvSpPr/>
          <p:nvPr/>
        </p:nvSpPr>
        <p:spPr>
          <a:xfrm>
            <a:off x="2052000" y="1692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ft_a3_text"/>
          <p:cNvSpPr txBox="1"/>
          <p:nvPr/>
        </p:nvSpPr>
        <p:spPr>
          <a:xfrm>
            <a:off x="2052000" y="1692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a3</a:t>
            </a:r>
          </a:p>
        </p:txBody>
      </p:sp>
      <p:sp>
        <p:nvSpPr>
          <p:cNvPr id="23" name="left_count_box"/>
          <p:cNvSpPr/>
          <p:nvPr/>
        </p:nvSpPr>
        <p:spPr>
          <a:xfrm>
            <a:off x="432000" y="2322000"/>
            <a:ext cx="2448000" cy="244800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_count_text"/>
          <p:cNvSpPr txBox="1"/>
          <p:nvPr/>
        </p:nvSpPr>
        <p:spPr>
          <a:xfrm>
            <a:off x="432000" y="2322000"/>
            <a:ext cx="2448000" cy="2448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65D"/>
                </a:solidFill>
                <a:latin typeface="Arimo"/>
              </a:rPr>
              <a:t>3 candidate-challenger obligations</a:t>
            </a:r>
          </a:p>
        </p:txBody>
      </p:sp>
      <p:cxnSp>
        <p:nvCxnSpPr>
          <p:cNvPr id="25" name="right_edge_1"/>
          <p:cNvCxnSpPr/>
          <p:nvPr/>
        </p:nvCxnSpPr>
        <p:spPr>
          <a:xfrm flipH="1">
            <a:off x="3960000" y="1044000"/>
            <a:ext cx="864000" cy="684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ight_edge_2"/>
          <p:cNvCxnSpPr/>
          <p:nvPr/>
        </p:nvCxnSpPr>
        <p:spPr>
          <a:xfrm>
            <a:off x="4824000" y="1044000"/>
            <a:ext cx="0" cy="936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ight_edge_3"/>
          <p:cNvCxnSpPr/>
          <p:nvPr/>
        </p:nvCxnSpPr>
        <p:spPr>
          <a:xfrm>
            <a:off x="4824000" y="1044000"/>
            <a:ext cx="864000" cy="684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ight_edge_4"/>
          <p:cNvCxnSpPr/>
          <p:nvPr/>
        </p:nvCxnSpPr>
        <p:spPr>
          <a:xfrm>
            <a:off x="3960000" y="1728000"/>
            <a:ext cx="864000" cy="252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ight_edge_5"/>
          <p:cNvCxnSpPr/>
          <p:nvPr/>
        </p:nvCxnSpPr>
        <p:spPr>
          <a:xfrm>
            <a:off x="3960000" y="1728000"/>
            <a:ext cx="172800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ight_edge_6"/>
          <p:cNvCxnSpPr/>
          <p:nvPr/>
        </p:nvCxnSpPr>
        <p:spPr>
          <a:xfrm flipV="1">
            <a:off x="4824000" y="1728000"/>
            <a:ext cx="864000" cy="25200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_c_hex"/>
          <p:cNvSpPr/>
          <p:nvPr/>
        </p:nvSpPr>
        <p:spPr>
          <a:xfrm>
            <a:off x="4500000" y="846000"/>
            <a:ext cx="648000" cy="396000"/>
          </a:xfrm>
          <a:prstGeom prst="hexagon">
            <a:avLst/>
          </a:prstGeom>
          <a:solidFill>
            <a:srgbClr val="FFF2CC"/>
          </a:solidFill>
          <a:ln w="15240">
            <a:solidFill>
              <a:srgbClr val="A3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_c_text"/>
          <p:cNvSpPr txBox="1"/>
          <p:nvPr/>
        </p:nvSpPr>
        <p:spPr>
          <a:xfrm>
            <a:off x="4500000" y="846000"/>
            <a:ext cx="648000" cy="396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1">
                <a:solidFill>
                  <a:srgbClr val="A34B00"/>
                </a:solidFill>
                <a:latin typeface="Arimo"/>
              </a:rPr>
              <a:t>c</a:t>
            </a:r>
          </a:p>
        </p:txBody>
      </p:sp>
      <p:sp>
        <p:nvSpPr>
          <p:cNvPr id="33" name="right_a1_circle"/>
          <p:cNvSpPr/>
          <p:nvPr/>
        </p:nvSpPr>
        <p:spPr>
          <a:xfrm>
            <a:off x="3744000" y="1548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_a1_text"/>
          <p:cNvSpPr txBox="1"/>
          <p:nvPr/>
        </p:nvSpPr>
        <p:spPr>
          <a:xfrm>
            <a:off x="3744000" y="1548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a1</a:t>
            </a:r>
          </a:p>
        </p:txBody>
      </p:sp>
      <p:sp>
        <p:nvSpPr>
          <p:cNvPr id="35" name="right_a2_circle"/>
          <p:cNvSpPr/>
          <p:nvPr/>
        </p:nvSpPr>
        <p:spPr>
          <a:xfrm>
            <a:off x="4608000" y="1800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_a2_text"/>
          <p:cNvSpPr txBox="1"/>
          <p:nvPr/>
        </p:nvSpPr>
        <p:spPr>
          <a:xfrm>
            <a:off x="4608000" y="1800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a2</a:t>
            </a:r>
          </a:p>
        </p:txBody>
      </p:sp>
      <p:sp>
        <p:nvSpPr>
          <p:cNvPr id="37" name="right_a3_circle"/>
          <p:cNvSpPr/>
          <p:nvPr/>
        </p:nvSpPr>
        <p:spPr>
          <a:xfrm>
            <a:off x="5472000" y="1548000"/>
            <a:ext cx="432000" cy="360000"/>
          </a:xfrm>
          <a:prstGeom prst="ellipse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_a3_text"/>
          <p:cNvSpPr txBox="1"/>
          <p:nvPr/>
        </p:nvSpPr>
        <p:spPr>
          <a:xfrm>
            <a:off x="5472000" y="1548000"/>
            <a:ext cx="432000" cy="360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365D"/>
                </a:solidFill>
                <a:latin typeface="Arimo"/>
              </a:rPr>
              <a:t>a3</a:t>
            </a:r>
          </a:p>
        </p:txBody>
      </p:sp>
      <p:sp>
        <p:nvSpPr>
          <p:cNvPr id="39" name="right_count_box"/>
          <p:cNvSpPr/>
          <p:nvPr/>
        </p:nvSpPr>
        <p:spPr>
          <a:xfrm>
            <a:off x="3600000" y="2322000"/>
            <a:ext cx="2448000" cy="244800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_count_text"/>
          <p:cNvSpPr txBox="1"/>
          <p:nvPr/>
        </p:nvSpPr>
        <p:spPr>
          <a:xfrm>
            <a:off x="3600000" y="2322000"/>
            <a:ext cx="2448000" cy="2448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65D"/>
                </a:solidFill>
                <a:latin typeface="Arimo"/>
              </a:rPr>
              <a:t>6 pairwise relations for 4 alternatives</a:t>
            </a:r>
          </a:p>
        </p:txBody>
      </p:sp>
      <p:cxnSp>
        <p:nvCxnSpPr>
          <p:cNvPr id="41" name="legend_arrow_shaft"/>
          <p:cNvCxnSpPr/>
          <p:nvPr/>
        </p:nvCxnSpPr>
        <p:spPr>
          <a:xfrm>
            <a:off x="828000" y="2826000"/>
            <a:ext cx="3144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legend_arrow_head"/>
          <p:cNvSpPr/>
          <p:nvPr/>
        </p:nvSpPr>
        <p:spPr>
          <a:xfrm rot="5400000">
            <a:off x="1146600" y="2784600"/>
            <a:ext cx="82799" cy="82799"/>
          </a:xfrm>
          <a:prstGeom prst="triangle">
            <a:avLst/>
          </a:prstGeom>
          <a:solidFill>
            <a:srgbClr val="595959"/>
          </a:solidFill>
          <a:ln w="25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gend_arrow_text"/>
          <p:cNvSpPr txBox="1"/>
          <p:nvPr/>
        </p:nvSpPr>
        <p:spPr>
          <a:xfrm>
            <a:off x="1260000" y="2678400"/>
            <a:ext cx="1548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1F1F"/>
                </a:solidFill>
                <a:latin typeface="Arimo"/>
              </a:rPr>
              <a:t>candidate-challenger obligation</a:t>
            </a:r>
          </a:p>
        </p:txBody>
      </p:sp>
      <p:cxnSp>
        <p:nvCxnSpPr>
          <p:cNvPr id="44" name="legend_line"/>
          <p:cNvCxnSpPr/>
          <p:nvPr/>
        </p:nvCxnSpPr>
        <p:spPr>
          <a:xfrm>
            <a:off x="3600000" y="2826000"/>
            <a:ext cx="36000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legend_line_text"/>
          <p:cNvSpPr txBox="1"/>
          <p:nvPr/>
        </p:nvSpPr>
        <p:spPr>
          <a:xfrm>
            <a:off x="4032000" y="2678400"/>
            <a:ext cx="140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F1F1F"/>
                </a:solidFill>
                <a:latin typeface="Arimo"/>
              </a:rPr>
              <a:t>pairwise set-status relation</a:t>
            </a:r>
          </a:p>
        </p:txBody>
      </p:sp>
      <p:sp>
        <p:nvSpPr>
          <p:cNvPr id="46" name="conclusion_box"/>
          <p:cNvSpPr/>
          <p:nvPr/>
        </p:nvSpPr>
        <p:spPr>
          <a:xfrm>
            <a:off x="324000" y="3024000"/>
            <a:ext cx="5832000" cy="306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onclusion_text"/>
          <p:cNvSpPr txBox="1"/>
          <p:nvPr/>
        </p:nvSpPr>
        <p:spPr>
          <a:xfrm>
            <a:off x="432000" y="3038400"/>
            <a:ext cx="5616000" cy="2772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A00000"/>
                </a:solidFill>
                <a:latin typeface="Arimo"/>
              </a:rPr>
              <a:t>Different answer maps: stopping counts are not a same-problem ranking.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