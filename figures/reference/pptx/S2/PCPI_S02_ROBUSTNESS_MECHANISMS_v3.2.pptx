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669280" cy="47548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igure_title"/>
          <p:cNvSpPr txBox="1"/>
          <p:nvPr/>
        </p:nvSpPr>
        <p:spPr>
          <a:xfrm>
            <a:off x="228600" y="9144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 i="0">
                <a:solidFill>
                  <a:srgbClr val="17365D"/>
                </a:solidFill>
                <a:latin typeface="Liberation Sans"/>
              </a:rPr>
              <a:t>Robustness across boundary mechanisms</a:t>
            </a:r>
          </a:p>
        </p:txBody>
      </p:sp>
      <p:sp>
        <p:nvSpPr>
          <p:cNvPr id="3" name="figure_subtitle"/>
          <p:cNvSpPr txBox="1"/>
          <p:nvPr/>
        </p:nvSpPr>
        <p:spPr>
          <a:xfrm>
            <a:off x="320040" y="36576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0" i="0">
                <a:solidFill>
                  <a:srgbClr val="666666"/>
                </a:solidFill>
                <a:latin typeface="Liberation Sans"/>
              </a:rPr>
              <a:t>Observed false-certification rates; 1,000 replications per mechanism-method cell</a:t>
            </a:r>
          </a:p>
        </p:txBody>
      </p:sp>
      <p:sp>
        <p:nvSpPr>
          <p:cNvPr id="4" name="S2A_panel"/>
          <p:cNvSpPr/>
          <p:nvPr/>
        </p:nvSpPr>
        <p:spPr>
          <a:xfrm>
            <a:off x="228600" y="658368"/>
            <a:ext cx="5212080" cy="2724912"/>
          </a:xfrm>
          <a:prstGeom prst="rect">
            <a:avLst/>
          </a:prstGeom>
          <a:solidFill>
            <a:srgbClr val="FFFFFF"/>
          </a:solidFill>
          <a:ln w="1016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2A_label"/>
          <p:cNvSpPr/>
          <p:nvPr/>
        </p:nvSpPr>
        <p:spPr>
          <a:xfrm>
            <a:off x="320040" y="713232"/>
            <a:ext cx="256032" cy="228600"/>
          </a:xfrm>
          <a:prstGeom prst="roundRect">
            <a:avLst/>
          </a:prstGeom>
          <a:solidFill>
            <a:srgbClr val="17365D"/>
          </a:solidFill>
          <a:ln w="1016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Liberation Sans"/>
              </a:rPr>
              <a:t>A</a:t>
            </a:r>
          </a:p>
        </p:txBody>
      </p:sp>
      <p:sp>
        <p:nvSpPr>
          <p:cNvPr id="6" name="S2A_title"/>
          <p:cNvSpPr txBox="1"/>
          <p:nvPr/>
        </p:nvSpPr>
        <p:spPr>
          <a:xfrm>
            <a:off x="612647" y="694944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7365D"/>
                </a:solidFill>
                <a:latin typeface="Liberation Sans"/>
              </a:rPr>
              <a:t>Low-rate and moderate-dependence cells</a:t>
            </a:r>
          </a:p>
        </p:txBody>
      </p:sp>
      <p:sp>
        <p:nvSpPr>
          <p:cNvPr id="7" name="S2A_legend_marker_coordinate"/>
          <p:cNvSpPr/>
          <p:nvPr/>
        </p:nvSpPr>
        <p:spPr>
          <a:xfrm>
            <a:off x="1869948" y="982980"/>
            <a:ext cx="100584" cy="100584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2A_legend_text_coordinate"/>
          <p:cNvSpPr txBox="1"/>
          <p:nvPr/>
        </p:nvSpPr>
        <p:spPr>
          <a:xfrm>
            <a:off x="2011680" y="914400"/>
            <a:ext cx="841248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Liberation Sans"/>
              </a:rPr>
              <a:t>Coordinate</a:t>
            </a:r>
          </a:p>
        </p:txBody>
      </p:sp>
      <p:sp>
        <p:nvSpPr>
          <p:cNvPr id="9" name="S2A_legend_marker_hotelling"/>
          <p:cNvSpPr/>
          <p:nvPr/>
        </p:nvSpPr>
        <p:spPr>
          <a:xfrm>
            <a:off x="2903220" y="982980"/>
            <a:ext cx="100584" cy="100584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2A_legend_text_hotelling"/>
          <p:cNvSpPr txBox="1"/>
          <p:nvPr/>
        </p:nvSpPr>
        <p:spPr>
          <a:xfrm>
            <a:off x="3044952" y="914400"/>
            <a:ext cx="841248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Liberation Sans"/>
              </a:rPr>
              <a:t>Hotelling</a:t>
            </a:r>
          </a:p>
        </p:txBody>
      </p:sp>
      <p:sp>
        <p:nvSpPr>
          <p:cNvPr id="11" name="S2A_legend_marker_hybrid"/>
          <p:cNvSpPr/>
          <p:nvPr/>
        </p:nvSpPr>
        <p:spPr>
          <a:xfrm>
            <a:off x="3890772" y="982980"/>
            <a:ext cx="100584" cy="100584"/>
          </a:xfrm>
          <a:prstGeom prst="diamond">
            <a:avLst/>
          </a:prstGeom>
          <a:solidFill>
            <a:srgbClr val="009E73"/>
          </a:solidFill>
          <a:ln w="1016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2A_legend_text_hybrid"/>
          <p:cNvSpPr txBox="1"/>
          <p:nvPr/>
        </p:nvSpPr>
        <p:spPr>
          <a:xfrm>
            <a:off x="4032503" y="914400"/>
            <a:ext cx="841248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22222"/>
                </a:solidFill>
                <a:latin typeface="Liberation Sans"/>
              </a:rPr>
              <a:t>Hybrid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29968" y="2907792"/>
            <a:ext cx="2962656" cy="0"/>
          </a:xfrm>
          <a:prstGeom prst="line">
            <a:avLst/>
          </a:prstGeom>
          <a:ln w="1397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29968" y="2907792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029968" y="1261872"/>
            <a:ext cx="0" cy="1481328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2A_x_ticklabel_0"/>
          <p:cNvSpPr txBox="1"/>
          <p:nvPr/>
        </p:nvSpPr>
        <p:spPr>
          <a:xfrm>
            <a:off x="1810512" y="2971800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0%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22499" y="2907792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22499" y="1261872"/>
            <a:ext cx="0" cy="1481328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2A_x_ticklabel_1"/>
          <p:cNvSpPr txBox="1"/>
          <p:nvPr/>
        </p:nvSpPr>
        <p:spPr>
          <a:xfrm>
            <a:off x="2403043" y="2971800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1%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15030" y="2907792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15030" y="1261872"/>
            <a:ext cx="0" cy="1481328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2A_x_ticklabel_2"/>
          <p:cNvSpPr txBox="1"/>
          <p:nvPr/>
        </p:nvSpPr>
        <p:spPr>
          <a:xfrm>
            <a:off x="2995574" y="2971800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2%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07561" y="2907792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807561" y="1261872"/>
            <a:ext cx="0" cy="1481328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2A_x_ticklabel_3"/>
          <p:cNvSpPr txBox="1"/>
          <p:nvPr/>
        </p:nvSpPr>
        <p:spPr>
          <a:xfrm>
            <a:off x="3588105" y="2971800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3%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00092" y="2907792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400092" y="1261872"/>
            <a:ext cx="0" cy="1481328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2A_x_ticklabel_4"/>
          <p:cNvSpPr txBox="1"/>
          <p:nvPr/>
        </p:nvSpPr>
        <p:spPr>
          <a:xfrm>
            <a:off x="4180636" y="2971800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4%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992624" y="2907792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92624" y="1261872"/>
            <a:ext cx="0" cy="1481328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2A_x_ticklabel_5"/>
          <p:cNvSpPr txBox="1"/>
          <p:nvPr/>
        </p:nvSpPr>
        <p:spPr>
          <a:xfrm>
            <a:off x="4773168" y="2971800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5%</a:t>
            </a:r>
          </a:p>
        </p:txBody>
      </p:sp>
      <p:sp>
        <p:nvSpPr>
          <p:cNvPr id="32" name="S2A_x_label"/>
          <p:cNvSpPr txBox="1"/>
          <p:nvPr/>
        </p:nvSpPr>
        <p:spPr>
          <a:xfrm>
            <a:off x="2029968" y="3163824"/>
            <a:ext cx="2962656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False-certification rate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992624" y="1225296"/>
            <a:ext cx="0" cy="1572768"/>
          </a:xfrm>
          <a:prstGeom prst="line">
            <a:avLst/>
          </a:prstGeom>
          <a:ln w="13970">
            <a:solidFill>
              <a:srgbClr val="D55E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S2A_nominal_label"/>
          <p:cNvSpPr txBox="1"/>
          <p:nvPr/>
        </p:nvSpPr>
        <p:spPr>
          <a:xfrm>
            <a:off x="4325112" y="119786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1" i="0">
                <a:solidFill>
                  <a:srgbClr val="D55E00"/>
                </a:solidFill>
                <a:latin typeface="Liberation Sans"/>
              </a:rPr>
              <a:t>nominal 5%</a:t>
            </a:r>
          </a:p>
        </p:txBody>
      </p:sp>
      <p:sp>
        <p:nvSpPr>
          <p:cNvPr id="35" name="S2A_label_ROB-00"/>
          <p:cNvSpPr txBox="1"/>
          <p:nvPr/>
        </p:nvSpPr>
        <p:spPr>
          <a:xfrm>
            <a:off x="347472" y="1243584"/>
            <a:ext cx="1536192" cy="219456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919" b="0" i="0">
                <a:solidFill>
                  <a:srgbClr val="17365D"/>
                </a:solidFill>
                <a:latin typeface="Liberation Sans"/>
              </a:rPr>
              <a:t>ROB-00  iid Gaussian</a:t>
            </a:r>
          </a:p>
        </p:txBody>
      </p:sp>
      <p:sp>
        <p:nvSpPr>
          <p:cNvPr id="36" name="S2A_ROB-00_coordinate"/>
          <p:cNvSpPr/>
          <p:nvPr/>
        </p:nvSpPr>
        <p:spPr>
          <a:xfrm>
            <a:off x="1984248" y="1257300"/>
            <a:ext cx="91440" cy="91440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2A_ROB-00_hotelling"/>
          <p:cNvSpPr/>
          <p:nvPr/>
        </p:nvSpPr>
        <p:spPr>
          <a:xfrm>
            <a:off x="1984248" y="1307592"/>
            <a:ext cx="91440" cy="91440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2A_ROB-00_hybrid"/>
          <p:cNvSpPr/>
          <p:nvPr/>
        </p:nvSpPr>
        <p:spPr>
          <a:xfrm>
            <a:off x="2043501" y="1357884"/>
            <a:ext cx="91440" cy="91440"/>
          </a:xfrm>
          <a:prstGeom prst="diamond">
            <a:avLst/>
          </a:prstGeom>
          <a:solidFill>
            <a:srgbClr val="009E73"/>
          </a:solidFill>
          <a:ln w="1016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2A_label_ROB-01"/>
          <p:cNvSpPr txBox="1"/>
          <p:nvPr/>
        </p:nvSpPr>
        <p:spPr>
          <a:xfrm>
            <a:off x="347472" y="1463040"/>
            <a:ext cx="1536192" cy="219456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919" b="0" i="0">
                <a:solidFill>
                  <a:srgbClr val="17365D"/>
                </a:solidFill>
                <a:latin typeface="Liberation Sans"/>
              </a:rPr>
              <a:t>ROB-01  t(5)</a:t>
            </a:r>
          </a:p>
        </p:txBody>
      </p:sp>
      <p:sp>
        <p:nvSpPr>
          <p:cNvPr id="40" name="S2A_ROB-01_coordinate"/>
          <p:cNvSpPr/>
          <p:nvPr/>
        </p:nvSpPr>
        <p:spPr>
          <a:xfrm>
            <a:off x="2043501" y="1476756"/>
            <a:ext cx="91440" cy="91440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2A_ROB-01_hotelling"/>
          <p:cNvSpPr/>
          <p:nvPr/>
        </p:nvSpPr>
        <p:spPr>
          <a:xfrm>
            <a:off x="1984248" y="1527048"/>
            <a:ext cx="91440" cy="91440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2A_ROB-01_hybrid"/>
          <p:cNvSpPr/>
          <p:nvPr/>
        </p:nvSpPr>
        <p:spPr>
          <a:xfrm>
            <a:off x="2043501" y="1577339"/>
            <a:ext cx="91440" cy="91440"/>
          </a:xfrm>
          <a:prstGeom prst="diamond">
            <a:avLst/>
          </a:prstGeom>
          <a:solidFill>
            <a:srgbClr val="009E73"/>
          </a:solidFill>
          <a:ln w="1016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2A_label_ROB-02"/>
          <p:cNvSpPr txBox="1"/>
          <p:nvPr/>
        </p:nvSpPr>
        <p:spPr>
          <a:xfrm>
            <a:off x="347472" y="1682495"/>
            <a:ext cx="1536192" cy="219456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919" b="0" i="0">
                <a:solidFill>
                  <a:srgbClr val="17365D"/>
                </a:solidFill>
                <a:latin typeface="Liberation Sans"/>
              </a:rPr>
              <a:t>ROB-02  t(3)</a:t>
            </a:r>
          </a:p>
        </p:txBody>
      </p:sp>
      <p:sp>
        <p:nvSpPr>
          <p:cNvPr id="44" name="S2A_ROB-02_coordinate"/>
          <p:cNvSpPr/>
          <p:nvPr/>
        </p:nvSpPr>
        <p:spPr>
          <a:xfrm>
            <a:off x="1984248" y="1696212"/>
            <a:ext cx="91440" cy="91440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2A_ROB-02_hotelling"/>
          <p:cNvSpPr/>
          <p:nvPr/>
        </p:nvSpPr>
        <p:spPr>
          <a:xfrm>
            <a:off x="1984248" y="1746504"/>
            <a:ext cx="91440" cy="91440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2A_ROB-02_hybrid"/>
          <p:cNvSpPr/>
          <p:nvPr/>
        </p:nvSpPr>
        <p:spPr>
          <a:xfrm>
            <a:off x="1984248" y="1796796"/>
            <a:ext cx="91440" cy="91440"/>
          </a:xfrm>
          <a:prstGeom prst="diamond">
            <a:avLst/>
          </a:prstGeom>
          <a:solidFill>
            <a:srgbClr val="009E73"/>
          </a:solidFill>
          <a:ln w="1016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2A_label_ROB-03"/>
          <p:cNvSpPr txBox="1"/>
          <p:nvPr/>
        </p:nvSpPr>
        <p:spPr>
          <a:xfrm>
            <a:off x="347472" y="1901952"/>
            <a:ext cx="1536192" cy="219456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919" b="0" i="0">
                <a:solidFill>
                  <a:srgbClr val="17365D"/>
                </a:solidFill>
                <a:latin typeface="Liberation Sans"/>
              </a:rPr>
              <a:t>ROB-03  centred lognormal</a:t>
            </a:r>
          </a:p>
        </p:txBody>
      </p:sp>
      <p:sp>
        <p:nvSpPr>
          <p:cNvPr id="48" name="S2A_ROB-03_coordinate"/>
          <p:cNvSpPr/>
          <p:nvPr/>
        </p:nvSpPr>
        <p:spPr>
          <a:xfrm>
            <a:off x="1984248" y="1915668"/>
            <a:ext cx="91440" cy="91440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2A_ROB-03_hotelling"/>
          <p:cNvSpPr/>
          <p:nvPr/>
        </p:nvSpPr>
        <p:spPr>
          <a:xfrm>
            <a:off x="1984248" y="1965960"/>
            <a:ext cx="91440" cy="91440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2A_ROB-03_hybrid"/>
          <p:cNvSpPr/>
          <p:nvPr/>
        </p:nvSpPr>
        <p:spPr>
          <a:xfrm>
            <a:off x="1984248" y="2016252"/>
            <a:ext cx="91440" cy="91440"/>
          </a:xfrm>
          <a:prstGeom prst="diamond">
            <a:avLst/>
          </a:prstGeom>
          <a:solidFill>
            <a:srgbClr val="009E73"/>
          </a:solidFill>
          <a:ln w="1016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2A_label_ROB-04"/>
          <p:cNvSpPr txBox="1"/>
          <p:nvPr/>
        </p:nvSpPr>
        <p:spPr>
          <a:xfrm>
            <a:off x="347472" y="2121408"/>
            <a:ext cx="1536192" cy="219456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919" b="0" i="0">
                <a:solidFill>
                  <a:srgbClr val="17365D"/>
                </a:solidFill>
                <a:latin typeface="Liberation Sans"/>
              </a:rPr>
              <a:t>ROB-04  1% 10-SD contamination</a:t>
            </a:r>
          </a:p>
        </p:txBody>
      </p:sp>
      <p:sp>
        <p:nvSpPr>
          <p:cNvPr id="52" name="S2A_ROB-04_coordinate"/>
          <p:cNvSpPr/>
          <p:nvPr/>
        </p:nvSpPr>
        <p:spPr>
          <a:xfrm>
            <a:off x="2043501" y="2135124"/>
            <a:ext cx="91440" cy="91440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2A_ROB-04_hotelling"/>
          <p:cNvSpPr/>
          <p:nvPr/>
        </p:nvSpPr>
        <p:spPr>
          <a:xfrm>
            <a:off x="1984248" y="2185416"/>
            <a:ext cx="91440" cy="91440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2A_ROB-04_hybrid"/>
          <p:cNvSpPr/>
          <p:nvPr/>
        </p:nvSpPr>
        <p:spPr>
          <a:xfrm>
            <a:off x="2043501" y="2235708"/>
            <a:ext cx="91440" cy="91440"/>
          </a:xfrm>
          <a:prstGeom prst="diamond">
            <a:avLst/>
          </a:prstGeom>
          <a:solidFill>
            <a:srgbClr val="009E73"/>
          </a:solidFill>
          <a:ln w="1016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2A_label_ROB-05"/>
          <p:cNvSpPr txBox="1"/>
          <p:nvPr/>
        </p:nvSpPr>
        <p:spPr>
          <a:xfrm>
            <a:off x="347472" y="2340864"/>
            <a:ext cx="1536192" cy="219456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919" b="1" i="0">
                <a:solidFill>
                  <a:srgbClr val="D55E00"/>
                </a:solidFill>
                <a:latin typeface="Liberation Sans"/>
              </a:rPr>
              <a:t>ROB-05  AR(1), rho=0.3</a:t>
            </a:r>
          </a:p>
        </p:txBody>
      </p:sp>
      <p:sp>
        <p:nvSpPr>
          <p:cNvPr id="56" name="S2A_ROB-05_coordinate"/>
          <p:cNvSpPr/>
          <p:nvPr/>
        </p:nvSpPr>
        <p:spPr>
          <a:xfrm>
            <a:off x="3287816" y="2354580"/>
            <a:ext cx="91440" cy="91440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2A_value_ROB-05_coordinate"/>
          <p:cNvSpPr txBox="1"/>
          <p:nvPr/>
        </p:nvSpPr>
        <p:spPr>
          <a:xfrm>
            <a:off x="3379256" y="2281428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0072B2"/>
                </a:solidFill>
                <a:latin typeface="Liberation Sans"/>
              </a:rPr>
              <a:t>2.2%</a:t>
            </a:r>
          </a:p>
        </p:txBody>
      </p:sp>
      <p:sp>
        <p:nvSpPr>
          <p:cNvPr id="58" name="S2A_ROB-05_hotelling"/>
          <p:cNvSpPr/>
          <p:nvPr/>
        </p:nvSpPr>
        <p:spPr>
          <a:xfrm>
            <a:off x="2813791" y="2404872"/>
            <a:ext cx="91440" cy="91440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2A_value_ROB-05_hotelling"/>
          <p:cNvSpPr txBox="1"/>
          <p:nvPr/>
        </p:nvSpPr>
        <p:spPr>
          <a:xfrm>
            <a:off x="2905231" y="2450592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E69F00"/>
                </a:solidFill>
                <a:latin typeface="Liberation Sans"/>
              </a:rPr>
              <a:t>1.4%</a:t>
            </a:r>
          </a:p>
        </p:txBody>
      </p:sp>
      <p:sp>
        <p:nvSpPr>
          <p:cNvPr id="60" name="S2A_ROB-05_hybrid"/>
          <p:cNvSpPr/>
          <p:nvPr/>
        </p:nvSpPr>
        <p:spPr>
          <a:xfrm>
            <a:off x="3169310" y="2455164"/>
            <a:ext cx="91440" cy="91440"/>
          </a:xfrm>
          <a:prstGeom prst="diamond">
            <a:avLst/>
          </a:prstGeom>
          <a:solidFill>
            <a:srgbClr val="009E73"/>
          </a:solidFill>
          <a:ln w="1016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2A_value_ROB-05_hybrid"/>
          <p:cNvSpPr txBox="1"/>
          <p:nvPr/>
        </p:nvSpPr>
        <p:spPr>
          <a:xfrm>
            <a:off x="3260750" y="2574036"/>
            <a:ext cx="420624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009E73"/>
                </a:solidFill>
                <a:latin typeface="Liberation Sans"/>
              </a:rPr>
              <a:t>2.0%</a:t>
            </a:r>
          </a:p>
        </p:txBody>
      </p:sp>
      <p:sp>
        <p:nvSpPr>
          <p:cNvPr id="62" name="S2A_label_ROB-07"/>
          <p:cNvSpPr txBox="1"/>
          <p:nvPr/>
        </p:nvSpPr>
        <p:spPr>
          <a:xfrm>
            <a:off x="347472" y="2560320"/>
            <a:ext cx="1536192" cy="219456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919" b="0" i="0">
                <a:solidFill>
                  <a:srgbClr val="17365D"/>
                </a:solidFill>
                <a:latin typeface="Liberation Sans"/>
              </a:rPr>
              <a:t>ROB-07  near-singular Gaussian</a:t>
            </a:r>
          </a:p>
        </p:txBody>
      </p:sp>
      <p:sp>
        <p:nvSpPr>
          <p:cNvPr id="63" name="S2A_ROB-07_coordinate"/>
          <p:cNvSpPr/>
          <p:nvPr/>
        </p:nvSpPr>
        <p:spPr>
          <a:xfrm>
            <a:off x="1984248" y="2574036"/>
            <a:ext cx="91440" cy="91440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2A_ROB-07_hotelling"/>
          <p:cNvSpPr/>
          <p:nvPr/>
        </p:nvSpPr>
        <p:spPr>
          <a:xfrm>
            <a:off x="1984248" y="2624328"/>
            <a:ext cx="91440" cy="91440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2A_ROB-07_hybrid"/>
          <p:cNvSpPr/>
          <p:nvPr/>
        </p:nvSpPr>
        <p:spPr>
          <a:xfrm>
            <a:off x="1984248" y="2674620"/>
            <a:ext cx="91440" cy="91440"/>
          </a:xfrm>
          <a:prstGeom prst="diamond">
            <a:avLst/>
          </a:prstGeom>
          <a:solidFill>
            <a:srgbClr val="009E73"/>
          </a:solidFill>
          <a:ln w="1016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2B_panel"/>
          <p:cNvSpPr/>
          <p:nvPr/>
        </p:nvSpPr>
        <p:spPr>
          <a:xfrm>
            <a:off x="228600" y="3438144"/>
            <a:ext cx="521208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2B_label"/>
          <p:cNvSpPr/>
          <p:nvPr/>
        </p:nvSpPr>
        <p:spPr>
          <a:xfrm>
            <a:off x="320040" y="3493008"/>
            <a:ext cx="256032" cy="228600"/>
          </a:xfrm>
          <a:prstGeom prst="roundRect">
            <a:avLst/>
          </a:prstGeom>
          <a:solidFill>
            <a:srgbClr val="17365D"/>
          </a:solidFill>
          <a:ln w="1016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Liberation Sans"/>
              </a:rPr>
              <a:t>B</a:t>
            </a:r>
          </a:p>
        </p:txBody>
      </p:sp>
      <p:sp>
        <p:nvSpPr>
          <p:cNvPr id="68" name="S2B_title"/>
          <p:cNvSpPr txBox="1"/>
          <p:nvPr/>
        </p:nvSpPr>
        <p:spPr>
          <a:xfrm>
            <a:off x="612647" y="347472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7365D"/>
                </a:solidFill>
                <a:latin typeface="Liberation Sans"/>
              </a:rPr>
              <a:t>Strong AR(1), rho=0.6: validity fails</a:t>
            </a:r>
          </a:p>
        </p:txBody>
      </p:sp>
      <p:sp>
        <p:nvSpPr>
          <p:cNvPr id="69" name="S2B_name_coordinate"/>
          <p:cNvSpPr txBox="1"/>
          <p:nvPr/>
        </p:nvSpPr>
        <p:spPr>
          <a:xfrm>
            <a:off x="603504" y="3712463"/>
            <a:ext cx="1243584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0072B2"/>
                </a:solidFill>
                <a:latin typeface="Liberation Sans"/>
              </a:rPr>
              <a:t>Coordinate</a:t>
            </a:r>
          </a:p>
        </p:txBody>
      </p:sp>
      <p:sp>
        <p:nvSpPr>
          <p:cNvPr id="70" name="S2B_rate_coordinate"/>
          <p:cNvSpPr txBox="1"/>
          <p:nvPr/>
        </p:nvSpPr>
        <p:spPr>
          <a:xfrm>
            <a:off x="603504" y="3886200"/>
            <a:ext cx="1243584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50" b="1" i="0">
                <a:solidFill>
                  <a:srgbClr val="0072B2"/>
                </a:solidFill>
                <a:latin typeface="Liberation Sans"/>
              </a:rPr>
              <a:t>30.6%</a:t>
            </a:r>
          </a:p>
        </p:txBody>
      </p:sp>
      <p:sp>
        <p:nvSpPr>
          <p:cNvPr id="71" name="S2B_gauge_bg_coordinate"/>
          <p:cNvSpPr/>
          <p:nvPr/>
        </p:nvSpPr>
        <p:spPr>
          <a:xfrm>
            <a:off x="713232" y="4133087"/>
            <a:ext cx="1024128" cy="100584"/>
          </a:xfrm>
          <a:prstGeom prst="rect">
            <a:avLst/>
          </a:prstGeom>
          <a:solidFill>
            <a:srgbClr val="E6E9EF"/>
          </a:solidFill>
          <a:ln w="1016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2B_gauge_fill_coordinate"/>
          <p:cNvSpPr/>
          <p:nvPr/>
        </p:nvSpPr>
        <p:spPr>
          <a:xfrm>
            <a:off x="713232" y="4133087"/>
            <a:ext cx="895380" cy="100584"/>
          </a:xfrm>
          <a:prstGeom prst="rect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859536" y="4096511"/>
            <a:ext cx="0" cy="173737"/>
          </a:xfrm>
          <a:prstGeom prst="line">
            <a:avLst/>
          </a:prstGeom>
          <a:ln w="1270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S2B_name_hotelling"/>
          <p:cNvSpPr txBox="1"/>
          <p:nvPr/>
        </p:nvSpPr>
        <p:spPr>
          <a:xfrm>
            <a:off x="2112264" y="3712463"/>
            <a:ext cx="1243584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E69F00"/>
                </a:solidFill>
                <a:latin typeface="Liberation Sans"/>
              </a:rPr>
              <a:t>Hotelling</a:t>
            </a:r>
          </a:p>
        </p:txBody>
      </p:sp>
      <p:sp>
        <p:nvSpPr>
          <p:cNvPr id="75" name="S2B_rate_hotelling"/>
          <p:cNvSpPr txBox="1"/>
          <p:nvPr/>
        </p:nvSpPr>
        <p:spPr>
          <a:xfrm>
            <a:off x="2112264" y="3886200"/>
            <a:ext cx="1243584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50" b="1" i="0">
                <a:solidFill>
                  <a:srgbClr val="E69F00"/>
                </a:solidFill>
                <a:latin typeface="Liberation Sans"/>
              </a:rPr>
              <a:t>23.3%</a:t>
            </a:r>
          </a:p>
        </p:txBody>
      </p:sp>
      <p:sp>
        <p:nvSpPr>
          <p:cNvPr id="76" name="S2B_gauge_bg_hotelling"/>
          <p:cNvSpPr/>
          <p:nvPr/>
        </p:nvSpPr>
        <p:spPr>
          <a:xfrm>
            <a:off x="2221992" y="4133087"/>
            <a:ext cx="1024128" cy="100584"/>
          </a:xfrm>
          <a:prstGeom prst="rect">
            <a:avLst/>
          </a:prstGeom>
          <a:solidFill>
            <a:srgbClr val="E6E9EF"/>
          </a:solidFill>
          <a:ln w="1016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S2B_gauge_fill_hotelling"/>
          <p:cNvSpPr/>
          <p:nvPr/>
        </p:nvSpPr>
        <p:spPr>
          <a:xfrm>
            <a:off x="2221992" y="4133087"/>
            <a:ext cx="681776" cy="100584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2368296" y="4096511"/>
            <a:ext cx="0" cy="173737"/>
          </a:xfrm>
          <a:prstGeom prst="line">
            <a:avLst/>
          </a:prstGeom>
          <a:ln w="1270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S2B_name_hybrid"/>
          <p:cNvSpPr txBox="1"/>
          <p:nvPr/>
        </p:nvSpPr>
        <p:spPr>
          <a:xfrm>
            <a:off x="3621024" y="3712463"/>
            <a:ext cx="1243584" cy="21031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009E73"/>
                </a:solidFill>
                <a:latin typeface="Liberation Sans"/>
              </a:rPr>
              <a:t>Hybrid</a:t>
            </a:r>
          </a:p>
        </p:txBody>
      </p:sp>
      <p:sp>
        <p:nvSpPr>
          <p:cNvPr id="80" name="S2B_rate_hybrid"/>
          <p:cNvSpPr txBox="1"/>
          <p:nvPr/>
        </p:nvSpPr>
        <p:spPr>
          <a:xfrm>
            <a:off x="3621024" y="3886200"/>
            <a:ext cx="1243584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350" b="1" i="0">
                <a:solidFill>
                  <a:srgbClr val="009E73"/>
                </a:solidFill>
                <a:latin typeface="Liberation Sans"/>
              </a:rPr>
              <a:t>28.2%</a:t>
            </a:r>
          </a:p>
        </p:txBody>
      </p:sp>
      <p:sp>
        <p:nvSpPr>
          <p:cNvPr id="81" name="S2B_gauge_bg_hybrid"/>
          <p:cNvSpPr/>
          <p:nvPr/>
        </p:nvSpPr>
        <p:spPr>
          <a:xfrm>
            <a:off x="3730752" y="4133087"/>
            <a:ext cx="1024128" cy="100584"/>
          </a:xfrm>
          <a:prstGeom prst="rect">
            <a:avLst/>
          </a:prstGeom>
          <a:solidFill>
            <a:srgbClr val="E6E9EF"/>
          </a:solidFill>
          <a:ln w="1016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2B_gauge_fill_hybrid"/>
          <p:cNvSpPr/>
          <p:nvPr/>
        </p:nvSpPr>
        <p:spPr>
          <a:xfrm>
            <a:off x="3730752" y="4133087"/>
            <a:ext cx="825154" cy="100584"/>
          </a:xfrm>
          <a:prstGeom prst="rect">
            <a:avLst/>
          </a:prstGeom>
          <a:solidFill>
            <a:srgbClr val="009E73"/>
          </a:solidFill>
          <a:ln w="1016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3877056" y="4096511"/>
            <a:ext cx="0" cy="173737"/>
          </a:xfrm>
          <a:prstGeom prst="line">
            <a:avLst/>
          </a:prstGeom>
          <a:ln w="1270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S2_footer"/>
          <p:cNvSpPr/>
          <p:nvPr/>
        </p:nvSpPr>
        <p:spPr>
          <a:xfrm>
            <a:off x="384048" y="4405000"/>
            <a:ext cx="4901184" cy="300000"/>
          </a:xfrm>
          <a:prstGeom prst="roundRect">
            <a:avLst/>
          </a:prstGeom>
          <a:solidFill>
            <a:srgbClr val="FFF2CC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19" b="1" i="0">
                <a:solidFill>
                  <a:srgbClr val="222222"/>
                </a:solidFill>
                <a:latin typeface="Liberation Sans"/>
              </a:rPr>
              <a:t>ROB-06 refutes unqualified temporal-dependence validity; benign finite cells are diagnostics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