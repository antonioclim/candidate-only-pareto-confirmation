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68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_Background"/>
          <p:cNvSpPr/>
          <p:nvPr/>
        </p:nvSpPr>
        <p:spPr>
          <a:xfrm>
            <a:off x="0" y="0"/>
            <a:ext cx="4680000" cy="18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a_title"/>
          <p:cNvSpPr txBox="1"/>
          <p:nvPr/>
        </p:nvSpPr>
        <p:spPr>
          <a:xfrm>
            <a:off x="144000" y="36000"/>
            <a:ext cx="4392000" cy="234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65D"/>
                </a:solidFill>
                <a:latin typeface="Arimo"/>
              </a:rPr>
              <a:t>Selected-candidate Pareto confirmation</a:t>
            </a:r>
          </a:p>
        </p:txBody>
      </p:sp>
      <p:cxnSp>
        <p:nvCxnSpPr>
          <p:cNvPr id="4" name="ga_arrow_1_shaft"/>
          <p:cNvCxnSpPr/>
          <p:nvPr/>
        </p:nvCxnSpPr>
        <p:spPr>
          <a:xfrm>
            <a:off x="1476000" y="846000"/>
            <a:ext cx="106380" cy="0"/>
          </a:xfrm>
          <a:prstGeom prst="line">
            <a:avLst/>
          </a:prstGeom>
          <a:ln w="1651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ga_arrow_1_head"/>
          <p:cNvSpPr/>
          <p:nvPr/>
        </p:nvSpPr>
        <p:spPr>
          <a:xfrm rot="5400000">
            <a:off x="1585800" y="811800"/>
            <a:ext cx="68400" cy="68400"/>
          </a:xfrm>
          <a:prstGeom prst="triangle">
            <a:avLst/>
          </a:prstGeom>
          <a:solidFill>
            <a:srgbClr val="17365D"/>
          </a:solidFill>
          <a:ln w="25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ga_arrow_2_shaft"/>
          <p:cNvCxnSpPr/>
          <p:nvPr/>
        </p:nvCxnSpPr>
        <p:spPr>
          <a:xfrm>
            <a:off x="3024000" y="846000"/>
            <a:ext cx="106380" cy="0"/>
          </a:xfrm>
          <a:prstGeom prst="line">
            <a:avLst/>
          </a:prstGeom>
          <a:ln w="1651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ga_arrow_2_head"/>
          <p:cNvSpPr/>
          <p:nvPr/>
        </p:nvSpPr>
        <p:spPr>
          <a:xfrm rot="5400000">
            <a:off x="3133800" y="811800"/>
            <a:ext cx="68400" cy="68400"/>
          </a:xfrm>
          <a:prstGeom prst="triangle">
            <a:avLst/>
          </a:prstGeom>
          <a:solidFill>
            <a:srgbClr val="17365D"/>
          </a:solidFill>
          <a:ln w="254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a_card_1"/>
          <p:cNvSpPr/>
          <p:nvPr/>
        </p:nvSpPr>
        <p:spPr>
          <a:xfrm>
            <a:off x="72000" y="324000"/>
            <a:ext cx="1404000" cy="1008000"/>
          </a:xfrm>
          <a:prstGeom prst="roundRect">
            <a:avLst/>
          </a:prstGeom>
          <a:solidFill>
            <a:srgbClr val="EAF1F8"/>
          </a:solidFill>
          <a:ln w="1397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a_stage_1_circle"/>
          <p:cNvSpPr/>
          <p:nvPr/>
        </p:nvSpPr>
        <p:spPr>
          <a:xfrm>
            <a:off x="180000" y="432000"/>
            <a:ext cx="252000" cy="25200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a_stage_1_text"/>
          <p:cNvSpPr txBox="1"/>
          <p:nvPr/>
        </p:nvSpPr>
        <p:spPr>
          <a:xfrm>
            <a:off x="180000" y="432000"/>
            <a:ext cx="252000" cy="252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mo"/>
              </a:rPr>
              <a:t>1</a:t>
            </a:r>
          </a:p>
        </p:txBody>
      </p:sp>
      <p:sp>
        <p:nvSpPr>
          <p:cNvPr id="11" name="ga_head_1"/>
          <p:cNvSpPr txBox="1"/>
          <p:nvPr/>
        </p:nvSpPr>
        <p:spPr>
          <a:xfrm>
            <a:off x="504000" y="417600"/>
            <a:ext cx="864000" cy="252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72B2"/>
                </a:solidFill>
                <a:latin typeface="Arimo"/>
              </a:rPr>
              <a:t>CONFIRM</a:t>
            </a:r>
          </a:p>
        </p:txBody>
      </p:sp>
      <p:sp>
        <p:nvSpPr>
          <p:cNvPr id="12" name="ga_big_1"/>
          <p:cNvSpPr txBox="1"/>
          <p:nvPr/>
        </p:nvSpPr>
        <p:spPr>
          <a:xfrm>
            <a:off x="180000" y="720000"/>
            <a:ext cx="1188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72B2"/>
                </a:solidFill>
                <a:latin typeface="Arimo"/>
              </a:rPr>
              <a:t>c vs A</a:t>
            </a:r>
          </a:p>
        </p:txBody>
      </p:sp>
      <p:sp>
        <p:nvSpPr>
          <p:cNvPr id="13" name="ga_small_1"/>
          <p:cNvSpPr txBox="1"/>
          <p:nvPr/>
        </p:nvSpPr>
        <p:spPr>
          <a:xfrm>
            <a:off x="180000" y="1044000"/>
            <a:ext cx="1188000" cy="234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F1F1F"/>
                </a:solidFill>
                <a:latin typeface="Arimo"/>
              </a:rPr>
              <a:t>certificate / undecided</a:t>
            </a:r>
          </a:p>
        </p:txBody>
      </p:sp>
      <p:sp>
        <p:nvSpPr>
          <p:cNvPr id="14" name="ga_card_2"/>
          <p:cNvSpPr/>
          <p:nvPr/>
        </p:nvSpPr>
        <p:spPr>
          <a:xfrm>
            <a:off x="1620000" y="324000"/>
            <a:ext cx="1404000" cy="1008000"/>
          </a:xfrm>
          <a:prstGeom prst="roundRect">
            <a:avLst/>
          </a:prstGeom>
          <a:solidFill>
            <a:srgbClr val="E2F0D9"/>
          </a:solidFill>
          <a:ln w="13970">
            <a:solidFill>
              <a:srgbClr val="2F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a_stage_2_circle"/>
          <p:cNvSpPr/>
          <p:nvPr/>
        </p:nvSpPr>
        <p:spPr>
          <a:xfrm>
            <a:off x="1728000" y="432000"/>
            <a:ext cx="252000" cy="252000"/>
          </a:xfrm>
          <a:prstGeom prst="ellipse">
            <a:avLst/>
          </a:prstGeom>
          <a:solidFill>
            <a:srgbClr val="2F6B2F"/>
          </a:solidFill>
          <a:ln w="10160">
            <a:solidFill>
              <a:srgbClr val="2F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a_stage_2_text"/>
          <p:cNvSpPr txBox="1"/>
          <p:nvPr/>
        </p:nvSpPr>
        <p:spPr>
          <a:xfrm>
            <a:off x="1728000" y="432000"/>
            <a:ext cx="252000" cy="252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mo"/>
              </a:rPr>
              <a:t>2</a:t>
            </a:r>
          </a:p>
        </p:txBody>
      </p:sp>
      <p:sp>
        <p:nvSpPr>
          <p:cNvPr id="17" name="ga_head_2"/>
          <p:cNvSpPr txBox="1"/>
          <p:nvPr/>
        </p:nvSpPr>
        <p:spPr>
          <a:xfrm>
            <a:off x="2052000" y="417600"/>
            <a:ext cx="864000" cy="252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F6B2F"/>
                </a:solidFill>
                <a:latin typeface="Arimo"/>
              </a:rPr>
              <a:t>CALIBRATE</a:t>
            </a:r>
          </a:p>
        </p:txBody>
      </p:sp>
      <p:sp>
        <p:nvSpPr>
          <p:cNvPr id="18" name="ga_big_2"/>
          <p:cNvSpPr txBox="1"/>
          <p:nvPr/>
        </p:nvSpPr>
        <p:spPr>
          <a:xfrm>
            <a:off x="1728000" y="720000"/>
            <a:ext cx="1188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6B2F"/>
                </a:solidFill>
                <a:latin typeface="Arimo"/>
              </a:rPr>
              <a:t>12 / 12</a:t>
            </a:r>
          </a:p>
        </p:txBody>
      </p:sp>
      <p:sp>
        <p:nvSpPr>
          <p:cNvPr id="19" name="ga_small_2"/>
          <p:cNvSpPr txBox="1"/>
          <p:nvPr/>
        </p:nvSpPr>
        <p:spPr>
          <a:xfrm>
            <a:off x="1728000" y="1044000"/>
            <a:ext cx="1188000" cy="234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F1F1F"/>
                </a:solidFill>
                <a:latin typeface="Arimo"/>
              </a:rPr>
              <a:t>0.00428 &lt; 0.065</a:t>
            </a:r>
          </a:p>
        </p:txBody>
      </p:sp>
      <p:sp>
        <p:nvSpPr>
          <p:cNvPr id="20" name="ga_card_3"/>
          <p:cNvSpPr/>
          <p:nvPr/>
        </p:nvSpPr>
        <p:spPr>
          <a:xfrm>
            <a:off x="3168000" y="324000"/>
            <a:ext cx="1440000" cy="1008000"/>
          </a:xfrm>
          <a:prstGeom prst="roundRect">
            <a:avLst/>
          </a:prstGeom>
          <a:solidFill>
            <a:srgbClr val="FCE4D6"/>
          </a:solidFill>
          <a:ln w="13970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a_stage_3_circle"/>
          <p:cNvSpPr/>
          <p:nvPr/>
        </p:nvSpPr>
        <p:spPr>
          <a:xfrm>
            <a:off x="3276000" y="432000"/>
            <a:ext cx="252000" cy="252000"/>
          </a:xfrm>
          <a:prstGeom prst="ellipse">
            <a:avLst/>
          </a:prstGeom>
          <a:solidFill>
            <a:srgbClr val="A00000"/>
          </a:solidFill>
          <a:ln w="10160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a_stage_3_text"/>
          <p:cNvSpPr txBox="1"/>
          <p:nvPr/>
        </p:nvSpPr>
        <p:spPr>
          <a:xfrm>
            <a:off x="3276000" y="432000"/>
            <a:ext cx="252000" cy="252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mo"/>
              </a:rPr>
              <a:t>3</a:t>
            </a:r>
          </a:p>
        </p:txBody>
      </p:sp>
      <p:sp>
        <p:nvSpPr>
          <p:cNvPr id="23" name="ga_head_3"/>
          <p:cNvSpPr txBox="1"/>
          <p:nvPr/>
        </p:nvSpPr>
        <p:spPr>
          <a:xfrm>
            <a:off x="3600000" y="417600"/>
            <a:ext cx="900000" cy="252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A00000"/>
                </a:solidFill>
                <a:latin typeface="Arimo"/>
              </a:rPr>
              <a:t>BOUND</a:t>
            </a:r>
          </a:p>
        </p:txBody>
      </p:sp>
      <p:sp>
        <p:nvSpPr>
          <p:cNvPr id="24" name="ga_big_3"/>
          <p:cNvSpPr txBox="1"/>
          <p:nvPr/>
        </p:nvSpPr>
        <p:spPr>
          <a:xfrm>
            <a:off x="3276000" y="720000"/>
            <a:ext cx="1224000" cy="288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00000"/>
                </a:solidFill>
                <a:latin typeface="Arimo"/>
              </a:rPr>
              <a:t>28.2%</a:t>
            </a:r>
          </a:p>
        </p:txBody>
      </p:sp>
      <p:sp>
        <p:nvSpPr>
          <p:cNvPr id="25" name="ga_small_3"/>
          <p:cNvSpPr txBox="1"/>
          <p:nvPr/>
        </p:nvSpPr>
        <p:spPr>
          <a:xfrm>
            <a:off x="3276000" y="1044000"/>
            <a:ext cx="1224000" cy="234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F1F1F"/>
                </a:solidFill>
                <a:latin typeface="Arimo"/>
              </a:rPr>
              <a:t>AR(1), rho = 0.6</a:t>
            </a:r>
          </a:p>
        </p:txBody>
      </p:sp>
      <p:sp>
        <p:nvSpPr>
          <p:cNvPr id="26" name="ga_band"/>
          <p:cNvSpPr/>
          <p:nvPr/>
        </p:nvSpPr>
        <p:spPr>
          <a:xfrm>
            <a:off x="144000" y="1404000"/>
            <a:ext cx="4392000" cy="324000"/>
          </a:xfrm>
          <a:prstGeom prst="roundRect">
            <a:avLst/>
          </a:prstGeom>
          <a:solidFill>
            <a:srgbClr val="F4F6F8"/>
          </a:solidFill>
          <a:ln w="1143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a_band_1"/>
          <p:cNvSpPr txBox="1"/>
          <p:nvPr/>
        </p:nvSpPr>
        <p:spPr>
          <a:xfrm>
            <a:off x="252000" y="1418400"/>
            <a:ext cx="4176000" cy="1512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F1F1F"/>
                </a:solidFill>
                <a:latin typeface="Arimo"/>
              </a:rPr>
              <a:t>Application: 398/400 completed; full-set 0/400 at the common cap</a:t>
            </a:r>
          </a:p>
        </p:txBody>
      </p:sp>
      <p:sp>
        <p:nvSpPr>
          <p:cNvPr id="28" name="ga_band_2"/>
          <p:cNvSpPr txBox="1"/>
          <p:nvPr/>
        </p:nvSpPr>
        <p:spPr>
          <a:xfrm>
            <a:off x="252000" y="1555200"/>
            <a:ext cx="4176000" cy="144000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0000"/>
                </a:solidFill>
                <a:latin typeface="Arimo"/>
              </a:rPr>
              <a:t>Answer-map scope cost - not universal superiority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