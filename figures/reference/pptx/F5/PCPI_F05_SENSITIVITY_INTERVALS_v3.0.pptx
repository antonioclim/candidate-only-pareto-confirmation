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6928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ure_title"/>
          <p:cNvSpPr txBox="1"/>
          <p:nvPr/>
        </p:nvSpPr>
        <p:spPr>
          <a:xfrm>
            <a:off x="228600" y="91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7365D"/>
                </a:solidFill>
                <a:latin typeface="Liberation Sans"/>
              </a:rPr>
              <a:t>Sensitivity: full-set minus candidate-only count</a:t>
            </a:r>
          </a:p>
        </p:txBody>
      </p:sp>
      <p:sp>
        <p:nvSpPr>
          <p:cNvPr id="3" name="figure_subtitle"/>
          <p:cNvSpPr txBox="1"/>
          <p:nvPr/>
        </p:nvSpPr>
        <p:spPr>
          <a:xfrm>
            <a:off x="320040" y="3657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Pre-specified cells; horizontal intervals are 99% bootstrap intervals</a:t>
            </a:r>
          </a:p>
        </p:txBody>
      </p:sp>
      <p:sp>
        <p:nvSpPr>
          <p:cNvPr id="4" name="F5A_panel"/>
          <p:cNvSpPr/>
          <p:nvPr/>
        </p:nvSpPr>
        <p:spPr>
          <a:xfrm>
            <a:off x="182880" y="658368"/>
            <a:ext cx="3163824" cy="3547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5A_label"/>
          <p:cNvSpPr/>
          <p:nvPr/>
        </p:nvSpPr>
        <p:spPr>
          <a:xfrm>
            <a:off x="274320" y="713232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A</a:t>
            </a:r>
          </a:p>
        </p:txBody>
      </p:sp>
      <p:sp>
        <p:nvSpPr>
          <p:cNvPr id="6" name="F5A_title"/>
          <p:cNvSpPr txBox="1"/>
          <p:nvPr/>
        </p:nvSpPr>
        <p:spPr>
          <a:xfrm>
            <a:off x="566928" y="694944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High positive cap-restricted differences</a:t>
            </a:r>
          </a:p>
        </p:txBody>
      </p:sp>
      <p:sp>
        <p:nvSpPr>
          <p:cNvPr id="7" name="F5B_panel"/>
          <p:cNvSpPr/>
          <p:nvPr/>
        </p:nvSpPr>
        <p:spPr>
          <a:xfrm>
            <a:off x="3456432" y="658368"/>
            <a:ext cx="2029968" cy="3547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5B_label"/>
          <p:cNvSpPr/>
          <p:nvPr/>
        </p:nvSpPr>
        <p:spPr>
          <a:xfrm>
            <a:off x="3547872" y="713232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B</a:t>
            </a:r>
          </a:p>
        </p:txBody>
      </p:sp>
      <p:sp>
        <p:nvSpPr>
          <p:cNvPr id="9" name="F5B_title"/>
          <p:cNvSpPr txBox="1"/>
          <p:nvPr/>
        </p:nvSpPr>
        <p:spPr>
          <a:xfrm>
            <a:off x="3840480" y="694944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Attenuated and boundary cases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" y="1307592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5A_label_SEN-01"/>
          <p:cNvSpPr txBox="1"/>
          <p:nvPr/>
        </p:nvSpPr>
        <p:spPr>
          <a:xfrm>
            <a:off x="365760" y="107899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2038" y="1188720"/>
            <a:ext cx="32203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82038" y="1133856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14241" y="1133856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5_SEN-01_mean"/>
          <p:cNvSpPr/>
          <p:nvPr/>
        </p:nvSpPr>
        <p:spPr>
          <a:xfrm>
            <a:off x="2849934" y="1138428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84048" y="1563624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5A_label_SEN-02"/>
          <p:cNvSpPr txBox="1"/>
          <p:nvPr/>
        </p:nvSpPr>
        <p:spPr>
          <a:xfrm>
            <a:off x="365760" y="133502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8074" y="1444752"/>
            <a:ext cx="308208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8074" y="1389888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96282" y="1389888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5_SEN-02_mean"/>
          <p:cNvSpPr/>
          <p:nvPr/>
        </p:nvSpPr>
        <p:spPr>
          <a:xfrm>
            <a:off x="2424905" y="1394460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84048" y="1819655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5A_label_SEN-04"/>
          <p:cNvSpPr txBox="1"/>
          <p:nvPr/>
        </p:nvSpPr>
        <p:spPr>
          <a:xfrm>
            <a:off x="365760" y="1591055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32757" y="1700784"/>
            <a:ext cx="537029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32757" y="1645919"/>
            <a:ext cx="0" cy="109729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69786" y="1645919"/>
            <a:ext cx="0" cy="109729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5_SEN-04_mean"/>
          <p:cNvSpPr/>
          <p:nvPr/>
        </p:nvSpPr>
        <p:spPr>
          <a:xfrm>
            <a:off x="1655555" y="1650492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84048" y="2075687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5A_label_SEN-05"/>
          <p:cNvSpPr txBox="1"/>
          <p:nvPr/>
        </p:nvSpPr>
        <p:spPr>
          <a:xfrm>
            <a:off x="365760" y="1847087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92171" y="1956815"/>
            <a:ext cx="78313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92171" y="1901951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870484" y="1901951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5_SEN-05_mean"/>
          <p:cNvSpPr/>
          <p:nvPr/>
        </p:nvSpPr>
        <p:spPr>
          <a:xfrm>
            <a:off x="2784031" y="1906523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84048" y="2331720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5A_label_SEN-06"/>
          <p:cNvSpPr txBox="1"/>
          <p:nvPr/>
        </p:nvSpPr>
        <p:spPr>
          <a:xfrm>
            <a:off x="365760" y="210312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917878" y="2212848"/>
            <a:ext cx="32524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17878" y="2157984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50402" y="2157984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5_SEN-06_mean"/>
          <p:cNvSpPr/>
          <p:nvPr/>
        </p:nvSpPr>
        <p:spPr>
          <a:xfrm>
            <a:off x="2884704" y="2162556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384048" y="2587752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5A_label_SEN-07"/>
          <p:cNvSpPr txBox="1"/>
          <p:nvPr/>
        </p:nvSpPr>
        <p:spPr>
          <a:xfrm>
            <a:off x="365760" y="235915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96053" y="2468880"/>
            <a:ext cx="16369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96053" y="2414016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12422" y="2414016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5_SEN-07_mean"/>
          <p:cNvSpPr/>
          <p:nvPr/>
        </p:nvSpPr>
        <p:spPr>
          <a:xfrm>
            <a:off x="2853892" y="2418588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84048" y="2843783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5A_label_SEN-08"/>
          <p:cNvSpPr txBox="1"/>
          <p:nvPr/>
        </p:nvSpPr>
        <p:spPr>
          <a:xfrm>
            <a:off x="365760" y="2615183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SEN-08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894663" y="2724911"/>
            <a:ext cx="15405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94663" y="2670047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10068" y="2670047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5_SEN-08_mean"/>
          <p:cNvSpPr/>
          <p:nvPr/>
        </p:nvSpPr>
        <p:spPr>
          <a:xfrm>
            <a:off x="2852287" y="2674619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84048" y="3099815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5A_label_SEN-09"/>
          <p:cNvSpPr txBox="1"/>
          <p:nvPr/>
        </p:nvSpPr>
        <p:spPr>
          <a:xfrm>
            <a:off x="365760" y="2871215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SEN-09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833681" y="2980944"/>
            <a:ext cx="74676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833681" y="2926079"/>
            <a:ext cx="0" cy="109729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908357" y="2926079"/>
            <a:ext cx="0" cy="109729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5_SEN-09_mean"/>
          <p:cNvSpPr/>
          <p:nvPr/>
        </p:nvSpPr>
        <p:spPr>
          <a:xfrm>
            <a:off x="2824471" y="2930651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384048" y="3355848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5A_label_SEN-10"/>
          <p:cNvSpPr txBox="1"/>
          <p:nvPr/>
        </p:nvSpPr>
        <p:spPr>
          <a:xfrm>
            <a:off x="365760" y="312724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SEN-10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773876" y="3236976"/>
            <a:ext cx="101208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773876" y="3182112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875084" y="3182112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5_SEN-10_mean"/>
          <p:cNvSpPr/>
          <p:nvPr/>
        </p:nvSpPr>
        <p:spPr>
          <a:xfrm>
            <a:off x="2787241" y="3186684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384048" y="3611880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5A_label_SEN-11"/>
          <p:cNvSpPr txBox="1"/>
          <p:nvPr/>
        </p:nvSpPr>
        <p:spPr>
          <a:xfrm>
            <a:off x="365760" y="338328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SEN-11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882466" y="3493008"/>
            <a:ext cx="20862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882466" y="3438144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903328" y="3438144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5_SEN-11_mean"/>
          <p:cNvSpPr/>
          <p:nvPr/>
        </p:nvSpPr>
        <p:spPr>
          <a:xfrm>
            <a:off x="2842873" y="3442716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384048" y="3867911"/>
            <a:ext cx="2788920" cy="0"/>
          </a:xfrm>
          <a:prstGeom prst="line">
            <a:avLst/>
          </a:prstGeom>
          <a:ln w="5715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5A_label_SEN-13"/>
          <p:cNvSpPr txBox="1"/>
          <p:nvPr/>
        </p:nvSpPr>
        <p:spPr>
          <a:xfrm>
            <a:off x="365760" y="3639311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SEN-13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877652" y="3749039"/>
            <a:ext cx="17546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877652" y="3694176"/>
            <a:ext cx="0" cy="109727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895198" y="3694176"/>
            <a:ext cx="0" cy="109727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5_SEN-13_mean"/>
          <p:cNvSpPr/>
          <p:nvPr/>
        </p:nvSpPr>
        <p:spPr>
          <a:xfrm>
            <a:off x="2836240" y="3698748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987552" y="3886200"/>
            <a:ext cx="2139696" cy="0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87552" y="3886200"/>
            <a:ext cx="0" cy="54863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7552" y="1097280"/>
            <a:ext cx="0" cy="269748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5A_x_ticklabel_0"/>
          <p:cNvSpPr txBox="1"/>
          <p:nvPr/>
        </p:nvSpPr>
        <p:spPr>
          <a:xfrm>
            <a:off x="768096" y="395020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1,500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415491" y="3886200"/>
            <a:ext cx="0" cy="54863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415491" y="1097280"/>
            <a:ext cx="0" cy="269748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5A_x_ticklabel_1"/>
          <p:cNvSpPr txBox="1"/>
          <p:nvPr/>
        </p:nvSpPr>
        <p:spPr>
          <a:xfrm>
            <a:off x="1196035" y="395020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1,600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843430" y="3886200"/>
            <a:ext cx="0" cy="54863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843430" y="1097280"/>
            <a:ext cx="0" cy="269748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5A_x_ticklabel_2"/>
          <p:cNvSpPr txBox="1"/>
          <p:nvPr/>
        </p:nvSpPr>
        <p:spPr>
          <a:xfrm>
            <a:off x="1623974" y="395020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1,700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271369" y="3886200"/>
            <a:ext cx="0" cy="54863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271369" y="1097280"/>
            <a:ext cx="0" cy="269748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5A_x_ticklabel_3"/>
          <p:cNvSpPr txBox="1"/>
          <p:nvPr/>
        </p:nvSpPr>
        <p:spPr>
          <a:xfrm>
            <a:off x="2051913" y="395020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1,800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699308" y="3886200"/>
            <a:ext cx="0" cy="54863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99308" y="1097280"/>
            <a:ext cx="0" cy="269748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5A_x_ticklabel_4"/>
          <p:cNvSpPr txBox="1"/>
          <p:nvPr/>
        </p:nvSpPr>
        <p:spPr>
          <a:xfrm>
            <a:off x="2479852" y="395020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1,900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127248" y="3886200"/>
            <a:ext cx="0" cy="54863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127248" y="1097280"/>
            <a:ext cx="0" cy="269748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F5A_x_ticklabel_5"/>
          <p:cNvSpPr txBox="1"/>
          <p:nvPr/>
        </p:nvSpPr>
        <p:spPr>
          <a:xfrm>
            <a:off x="2907791" y="395020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2,000</a:t>
            </a:r>
          </a:p>
        </p:txBody>
      </p:sp>
      <p:sp>
        <p:nvSpPr>
          <p:cNvPr id="95" name="F5A_x_label"/>
          <p:cNvSpPr txBox="1"/>
          <p:nvPr/>
        </p:nvSpPr>
        <p:spPr>
          <a:xfrm>
            <a:off x="987552" y="4142232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Mean count difference (scenarios)</a:t>
            </a:r>
          </a:p>
        </p:txBody>
      </p:sp>
      <p:sp>
        <p:nvSpPr>
          <p:cNvPr id="96" name="F5B_label_SEN-03"/>
          <p:cNvSpPr txBox="1"/>
          <p:nvPr/>
        </p:nvSpPr>
        <p:spPr>
          <a:xfrm>
            <a:off x="3611880" y="128930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SEN-03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325010" y="1417320"/>
            <a:ext cx="73428" cy="0"/>
          </a:xfrm>
          <a:prstGeom prst="line">
            <a:avLst/>
          </a:prstGeom>
          <a:ln w="1778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325010" y="1362456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398438" y="1362456"/>
            <a:ext cx="0" cy="109728"/>
          </a:xfrm>
          <a:prstGeom prst="line">
            <a:avLst/>
          </a:prstGeom>
          <a:ln w="1524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5_SEN-03_mean"/>
          <p:cNvSpPr/>
          <p:nvPr/>
        </p:nvSpPr>
        <p:spPr>
          <a:xfrm>
            <a:off x="4306927" y="1367028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5B_label_SEN-12"/>
          <p:cNvSpPr txBox="1"/>
          <p:nvPr/>
        </p:nvSpPr>
        <p:spPr>
          <a:xfrm>
            <a:off x="3611880" y="2084831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SEN-12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903005" y="2212848"/>
            <a:ext cx="363964" cy="0"/>
          </a:xfrm>
          <a:prstGeom prst="line">
            <a:avLst/>
          </a:prstGeom>
          <a:ln w="1778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903005" y="2157984"/>
            <a:ext cx="0" cy="109728"/>
          </a:xfrm>
          <a:prstGeom prst="line">
            <a:avLst/>
          </a:prstGeom>
          <a:ln w="1524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266969" y="2157984"/>
            <a:ext cx="0" cy="109728"/>
          </a:xfrm>
          <a:prstGeom prst="line">
            <a:avLst/>
          </a:prstGeom>
          <a:ln w="1524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5_SEN-12_mean"/>
          <p:cNvSpPr/>
          <p:nvPr/>
        </p:nvSpPr>
        <p:spPr>
          <a:xfrm>
            <a:off x="5033749" y="2162556"/>
            <a:ext cx="100584" cy="100584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5B_label_SEN-14"/>
          <p:cNvSpPr txBox="1"/>
          <p:nvPr/>
        </p:nvSpPr>
        <p:spPr>
          <a:xfrm>
            <a:off x="3611880" y="288036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D55E00"/>
                </a:solidFill>
                <a:latin typeface="Liberation Sans"/>
              </a:rPr>
              <a:t>SEN-14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196261" y="3008376"/>
            <a:ext cx="188119" cy="0"/>
          </a:xfrm>
          <a:prstGeom prst="line">
            <a:avLst/>
          </a:prstGeom>
          <a:ln w="1778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196261" y="2953512"/>
            <a:ext cx="0" cy="109728"/>
          </a:xfrm>
          <a:prstGeom prst="line">
            <a:avLst/>
          </a:prstGeom>
          <a:ln w="1524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4384380" y="2953512"/>
            <a:ext cx="0" cy="109728"/>
          </a:xfrm>
          <a:prstGeom prst="line">
            <a:avLst/>
          </a:prstGeom>
          <a:ln w="1524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5_SEN-14_mean"/>
          <p:cNvSpPr/>
          <p:nvPr/>
        </p:nvSpPr>
        <p:spPr>
          <a:xfrm>
            <a:off x="4238411" y="2958084"/>
            <a:ext cx="100584" cy="100584"/>
          </a:xfrm>
          <a:prstGeom prst="diamond">
            <a:avLst/>
          </a:prstGeom>
          <a:solidFill>
            <a:srgbClr val="D55E00"/>
          </a:solidFill>
          <a:ln w="1016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4307361" y="1143000"/>
            <a:ext cx="0" cy="2130552"/>
          </a:xfrm>
          <a:prstGeom prst="line">
            <a:avLst/>
          </a:prstGeom>
          <a:ln w="12700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5_zero_label"/>
          <p:cNvSpPr txBox="1"/>
          <p:nvPr/>
        </p:nvSpPr>
        <p:spPr>
          <a:xfrm>
            <a:off x="4142769" y="1078992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666666"/>
                </a:solidFill>
                <a:latin typeface="Liberation Sans"/>
              </a:rPr>
              <a:t>zero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169663" y="3273552"/>
            <a:ext cx="1170433" cy="0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192613" y="327355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192613" y="1143000"/>
            <a:ext cx="0" cy="205740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5B_x_ticklabel_0"/>
          <p:cNvSpPr txBox="1"/>
          <p:nvPr/>
        </p:nvSpPr>
        <p:spPr>
          <a:xfrm>
            <a:off x="3973157" y="333756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-100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766354" y="327355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766354" y="1143000"/>
            <a:ext cx="0" cy="205740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5B_x_ticklabel_1"/>
          <p:cNvSpPr txBox="1"/>
          <p:nvPr/>
        </p:nvSpPr>
        <p:spPr>
          <a:xfrm>
            <a:off x="4546898" y="333756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400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225347" y="327355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225347" y="1143000"/>
            <a:ext cx="0" cy="205740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F5B_x_ticklabel_2"/>
          <p:cNvSpPr txBox="1"/>
          <p:nvPr/>
        </p:nvSpPr>
        <p:spPr>
          <a:xfrm>
            <a:off x="5005891" y="333756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800</a:t>
            </a:r>
          </a:p>
        </p:txBody>
      </p:sp>
      <p:sp>
        <p:nvSpPr>
          <p:cNvPr id="123" name="F5_SEN14_callout"/>
          <p:cNvSpPr/>
          <p:nvPr/>
        </p:nvSpPr>
        <p:spPr>
          <a:xfrm>
            <a:off x="3611880" y="3584448"/>
            <a:ext cx="1709928" cy="502920"/>
          </a:xfrm>
          <a:prstGeom prst="roundRect">
            <a:avLst/>
          </a:prstGeom>
          <a:solidFill>
            <a:srgbClr val="FCE4D6"/>
          </a:solidFill>
          <a:ln w="1016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D55E00"/>
                </a:solidFill>
                <a:latin typeface="Liberation Sans"/>
              </a:rPr>
              <a:t>SEN-14: -16.3 [-96.8, 67.1]
Completion: 4.5% vs 7.5%; interval crosses zero.</a:t>
            </a:r>
          </a:p>
        </p:txBody>
      </p:sp>
      <p:sp>
        <p:nvSpPr>
          <p:cNvPr id="124" name="F5_footer"/>
          <p:cNvSpPr/>
          <p:nvPr/>
        </p:nvSpPr>
        <p:spPr>
          <a:xfrm>
            <a:off x="329184" y="4315968"/>
            <a:ext cx="5010912" cy="283464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Positive values mean candidate-only stopped earlier under the common cap; this descriptive contrast is not a same-problem algorithm ranking.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