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69280" cy="4754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ure_title"/>
          <p:cNvSpPr txBox="1"/>
          <p:nvPr/>
        </p:nvSpPr>
        <p:spPr>
          <a:xfrm>
            <a:off x="228600" y="914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50" b="1" i="0">
                <a:solidFill>
                  <a:srgbClr val="17365D"/>
                </a:solidFill>
                <a:latin typeface="Liberation Sans"/>
              </a:rPr>
              <a:t>Candidate identity across primary replications</a:t>
            </a:r>
          </a:p>
        </p:txBody>
      </p:sp>
      <p:sp>
        <p:nvSpPr>
          <p:cNvPr id="3" name="figure_subtitle"/>
          <p:cNvSpPr txBox="1"/>
          <p:nvPr/>
        </p:nvSpPr>
        <p:spPr>
          <a:xfrm>
            <a:off x="320040" y="365760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666666"/>
                </a:solidFill>
                <a:latin typeface="Liberation Sans"/>
              </a:rPr>
              <a:t>400 upstream selection outcomes; the selected candidate is fixed before confirmation</a:t>
            </a:r>
          </a:p>
        </p:txBody>
      </p:sp>
      <p:sp>
        <p:nvSpPr>
          <p:cNvPr id="4" name="S1A_panel"/>
          <p:cNvSpPr/>
          <p:nvPr/>
        </p:nvSpPr>
        <p:spPr>
          <a:xfrm>
            <a:off x="228600" y="658368"/>
            <a:ext cx="5212080" cy="1399032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1A_label"/>
          <p:cNvSpPr/>
          <p:nvPr/>
        </p:nvSpPr>
        <p:spPr>
          <a:xfrm>
            <a:off x="320040" y="713232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A</a:t>
            </a:r>
          </a:p>
        </p:txBody>
      </p:sp>
      <p:sp>
        <p:nvSpPr>
          <p:cNvPr id="6" name="S1A_title"/>
          <p:cNvSpPr txBox="1"/>
          <p:nvPr/>
        </p:nvSpPr>
        <p:spPr>
          <a:xfrm>
            <a:off x="612647" y="69494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Overall selection composition</a:t>
            </a:r>
          </a:p>
        </p:txBody>
      </p:sp>
      <p:sp>
        <p:nvSpPr>
          <p:cNvPr id="7" name="S1A_bar_bg"/>
          <p:cNvSpPr/>
          <p:nvPr/>
        </p:nvSpPr>
        <p:spPr>
          <a:xfrm>
            <a:off x="530352" y="1170432"/>
            <a:ext cx="4608576" cy="347472"/>
          </a:xfrm>
          <a:prstGeom prst="rect">
            <a:avLst/>
          </a:prstGeom>
          <a:solidFill>
            <a:srgbClr val="E6E9E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1A_hard09_segment"/>
          <p:cNvSpPr/>
          <p:nvPr/>
        </p:nvSpPr>
        <p:spPr>
          <a:xfrm>
            <a:off x="530352" y="1170432"/>
            <a:ext cx="4124675" cy="347472"/>
          </a:xfrm>
          <a:prstGeom prst="rect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A_other_segment"/>
          <p:cNvSpPr/>
          <p:nvPr/>
        </p:nvSpPr>
        <p:spPr>
          <a:xfrm>
            <a:off x="4655027" y="1170432"/>
            <a:ext cx="483900" cy="347472"/>
          </a:xfrm>
          <a:prstGeom prst="rect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A_hard09_label"/>
          <p:cNvSpPr txBox="1"/>
          <p:nvPr/>
        </p:nvSpPr>
        <p:spPr>
          <a:xfrm>
            <a:off x="640080" y="1179576"/>
            <a:ext cx="3905219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hard_09: 358 selections (89.5%)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6977" y="1517904"/>
            <a:ext cx="0" cy="128016"/>
          </a:xfrm>
          <a:prstGeom prst="line">
            <a:avLst/>
          </a:prstGeom>
          <a:ln w="1270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1A_other_callout"/>
          <p:cNvSpPr/>
          <p:nvPr/>
        </p:nvSpPr>
        <p:spPr>
          <a:xfrm>
            <a:off x="3822191" y="1636776"/>
            <a:ext cx="1316736" cy="310896"/>
          </a:xfrm>
          <a:prstGeom prst="roundRect">
            <a:avLst/>
          </a:prstGeom>
          <a:solidFill>
            <a:srgbClr val="FFF2CC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50" b="1" i="0">
                <a:solidFill>
                  <a:srgbClr val="222222"/>
                </a:solidFill>
                <a:latin typeface="Liberation Sans"/>
              </a:rPr>
              <a:t>All other IDs: 42
(10.5%)</a:t>
            </a:r>
          </a:p>
        </p:txBody>
      </p:sp>
      <p:sp>
        <p:nvSpPr>
          <p:cNvPr id="13" name="S1A_note"/>
          <p:cNvSpPr txBox="1"/>
          <p:nvPr/>
        </p:nvSpPr>
        <p:spPr>
          <a:xfrm>
            <a:off x="530352" y="166420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Liberation Sans"/>
              </a:rPr>
              <a:t>The modal identity is shown at full scale; Panel B resolves the non-modal outcomes.</a:t>
            </a:r>
          </a:p>
        </p:txBody>
      </p:sp>
      <p:sp>
        <p:nvSpPr>
          <p:cNvPr id="14" name="S1B_panel"/>
          <p:cNvSpPr/>
          <p:nvPr/>
        </p:nvSpPr>
        <p:spPr>
          <a:xfrm>
            <a:off x="228600" y="2157984"/>
            <a:ext cx="5212080" cy="1901952"/>
          </a:xfrm>
          <a:prstGeom prst="rect">
            <a:avLst/>
          </a:prstGeom>
          <a:solidFill>
            <a:srgbClr val="FFFFFF"/>
          </a:solidFill>
          <a:ln w="10160">
            <a:solidFill>
              <a:srgbClr val="E6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1B_label"/>
          <p:cNvSpPr/>
          <p:nvPr/>
        </p:nvSpPr>
        <p:spPr>
          <a:xfrm>
            <a:off x="320040" y="2212848"/>
            <a:ext cx="256032" cy="228600"/>
          </a:xfrm>
          <a:prstGeom prst="roundRect">
            <a:avLst/>
          </a:prstGeom>
          <a:solidFill>
            <a:srgbClr val="17365D"/>
          </a:solidFill>
          <a:ln w="10160"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050" b="1" i="0">
                <a:solidFill>
                  <a:srgbClr val="FFFFFF"/>
                </a:solidFill>
                <a:latin typeface="Liberation Sans"/>
              </a:rPr>
              <a:t>B</a:t>
            </a:r>
          </a:p>
        </p:txBody>
      </p:sp>
      <p:sp>
        <p:nvSpPr>
          <p:cNvPr id="16" name="S1B_title"/>
          <p:cNvSpPr txBox="1"/>
          <p:nvPr/>
        </p:nvSpPr>
        <p:spPr>
          <a:xfrm>
            <a:off x="612647" y="219456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17365D"/>
                </a:solidFill>
                <a:latin typeface="Liberation Sans"/>
              </a:rPr>
              <a:t>Non-modal candidate IDs - magnified count scale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47088" y="3794760"/>
            <a:ext cx="2788920" cy="0"/>
          </a:xfrm>
          <a:prstGeom prst="line">
            <a:avLst/>
          </a:prstGeom>
          <a:ln w="1397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847088" y="3794760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847088" y="2578608"/>
            <a:ext cx="0" cy="111556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1B_x_ticklabel_0"/>
          <p:cNvSpPr txBox="1"/>
          <p:nvPr/>
        </p:nvSpPr>
        <p:spPr>
          <a:xfrm>
            <a:off x="1627632" y="385876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44318" y="3794760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44318" y="2578608"/>
            <a:ext cx="0" cy="111556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1B_x_ticklabel_1"/>
          <p:cNvSpPr txBox="1"/>
          <p:nvPr/>
        </p:nvSpPr>
        <p:spPr>
          <a:xfrm>
            <a:off x="2324861" y="385876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41548" y="3794760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41548" y="2578608"/>
            <a:ext cx="0" cy="111556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1B_x_ticklabel_2"/>
          <p:cNvSpPr txBox="1"/>
          <p:nvPr/>
        </p:nvSpPr>
        <p:spPr>
          <a:xfrm>
            <a:off x="3022091" y="385876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38777" y="3794760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938777" y="2578608"/>
            <a:ext cx="0" cy="111556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1B_x_ticklabel_3"/>
          <p:cNvSpPr txBox="1"/>
          <p:nvPr/>
        </p:nvSpPr>
        <p:spPr>
          <a:xfrm>
            <a:off x="3719321" y="385876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30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36008" y="3794760"/>
            <a:ext cx="0" cy="54864"/>
          </a:xfrm>
          <a:prstGeom prst="line">
            <a:avLst/>
          </a:prstGeom>
          <a:ln w="1016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636008" y="2578608"/>
            <a:ext cx="0" cy="1115568"/>
          </a:xfrm>
          <a:prstGeom prst="line">
            <a:avLst/>
          </a:prstGeom>
          <a:ln w="6985">
            <a:solidFill>
              <a:srgbClr val="D9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S1B_x_ticklabel_4"/>
          <p:cNvSpPr txBox="1"/>
          <p:nvPr/>
        </p:nvSpPr>
        <p:spPr>
          <a:xfrm>
            <a:off x="4416552" y="3858768"/>
            <a:ext cx="438912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40</a:t>
            </a:r>
          </a:p>
        </p:txBody>
      </p:sp>
      <p:sp>
        <p:nvSpPr>
          <p:cNvPr id="33" name="S1B_x_label"/>
          <p:cNvSpPr txBox="1"/>
          <p:nvPr/>
        </p:nvSpPr>
        <p:spPr>
          <a:xfrm>
            <a:off x="1847088" y="4050792"/>
            <a:ext cx="278892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950" b="0" i="0">
                <a:solidFill>
                  <a:srgbClr val="222222"/>
                </a:solidFill>
                <a:latin typeface="Liberation Sans"/>
              </a:rPr>
              <a:t>Selections among 400 replications</a:t>
            </a:r>
          </a:p>
        </p:txBody>
      </p:sp>
      <p:sp>
        <p:nvSpPr>
          <p:cNvPr id="34" name="S1B_label_hard_01"/>
          <p:cNvSpPr txBox="1"/>
          <p:nvPr/>
        </p:nvSpPr>
        <p:spPr>
          <a:xfrm>
            <a:off x="329184" y="254203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17365D"/>
                </a:solidFill>
                <a:latin typeface="Liberation Sans"/>
              </a:rPr>
              <a:t>hard_01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47088" y="2670048"/>
            <a:ext cx="2649474" cy="0"/>
          </a:xfrm>
          <a:prstGeom prst="line">
            <a:avLst/>
          </a:prstGeom>
          <a:ln w="25400">
            <a:solidFill>
              <a:srgbClr val="007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1B_marker_hard_01"/>
          <p:cNvSpPr/>
          <p:nvPr/>
        </p:nvSpPr>
        <p:spPr>
          <a:xfrm>
            <a:off x="4437125" y="2610612"/>
            <a:ext cx="118872" cy="118872"/>
          </a:xfrm>
          <a:prstGeom prst="ellipse">
            <a:avLst/>
          </a:prstGeom>
          <a:solidFill>
            <a:srgbClr val="0072B2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1B_value_hard_01"/>
          <p:cNvSpPr txBox="1"/>
          <p:nvPr/>
        </p:nvSpPr>
        <p:spPr>
          <a:xfrm>
            <a:off x="4588001" y="254203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072B2"/>
                </a:solidFill>
                <a:latin typeface="Liberation Sans"/>
              </a:rPr>
              <a:t>38 (9.5%)</a:t>
            </a:r>
          </a:p>
        </p:txBody>
      </p:sp>
      <p:sp>
        <p:nvSpPr>
          <p:cNvPr id="38" name="S1B_label_candidate_anchor_00"/>
          <p:cNvSpPr txBox="1"/>
          <p:nvPr/>
        </p:nvSpPr>
        <p:spPr>
          <a:xfrm>
            <a:off x="329184" y="283464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19" b="1" i="0">
                <a:solidFill>
                  <a:srgbClr val="E69F00"/>
                </a:solidFill>
                <a:latin typeface="Liberation Sans"/>
              </a:rPr>
              <a:t>candidate_anchor_00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847088" y="2962656"/>
            <a:ext cx="139446" cy="0"/>
          </a:xfrm>
          <a:prstGeom prst="line">
            <a:avLst/>
          </a:prstGeom>
          <a:ln w="25400">
            <a:solidFill>
              <a:srgbClr val="E69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1B_marker_candidate_anchor_00"/>
          <p:cNvSpPr/>
          <p:nvPr/>
        </p:nvSpPr>
        <p:spPr>
          <a:xfrm>
            <a:off x="1927098" y="2903220"/>
            <a:ext cx="118872" cy="118872"/>
          </a:xfrm>
          <a:prstGeom prst="diamond">
            <a:avLst/>
          </a:prstGeom>
          <a:solidFill>
            <a:srgbClr val="E69F00"/>
          </a:solidFill>
          <a:ln w="1016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1B_value_candidate_anchor_00"/>
          <p:cNvSpPr txBox="1"/>
          <p:nvPr/>
        </p:nvSpPr>
        <p:spPr>
          <a:xfrm>
            <a:off x="2077974" y="283464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E69F00"/>
                </a:solidFill>
                <a:latin typeface="Liberation Sans"/>
              </a:rPr>
              <a:t>2 (0.50%)</a:t>
            </a:r>
          </a:p>
        </p:txBody>
      </p:sp>
      <p:sp>
        <p:nvSpPr>
          <p:cNvPr id="42" name="S1B_label_hard_02"/>
          <p:cNvSpPr txBox="1"/>
          <p:nvPr/>
        </p:nvSpPr>
        <p:spPr>
          <a:xfrm>
            <a:off x="329184" y="31272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17365D"/>
                </a:solidFill>
                <a:latin typeface="Liberation Sans"/>
              </a:rPr>
              <a:t>hard_02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847088" y="3255264"/>
            <a:ext cx="69723" cy="0"/>
          </a:xfrm>
          <a:prstGeom prst="line">
            <a:avLst/>
          </a:prstGeom>
          <a:ln w="25400">
            <a:solidFill>
              <a:srgbClr val="009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S1B_marker_hard_02"/>
          <p:cNvSpPr/>
          <p:nvPr/>
        </p:nvSpPr>
        <p:spPr>
          <a:xfrm>
            <a:off x="1857375" y="3195828"/>
            <a:ext cx="118872" cy="118872"/>
          </a:xfrm>
          <a:prstGeom prst="rect">
            <a:avLst/>
          </a:prstGeom>
          <a:solidFill>
            <a:srgbClr val="009E73"/>
          </a:solidFill>
          <a:ln w="10160">
            <a:solidFill>
              <a:srgbClr val="009E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1B_value_hard_02"/>
          <p:cNvSpPr txBox="1"/>
          <p:nvPr/>
        </p:nvSpPr>
        <p:spPr>
          <a:xfrm>
            <a:off x="2008251" y="3127248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009E73"/>
                </a:solidFill>
                <a:latin typeface="Liberation Sans"/>
              </a:rPr>
              <a:t>1 (0.25%)</a:t>
            </a:r>
          </a:p>
        </p:txBody>
      </p:sp>
      <p:sp>
        <p:nvSpPr>
          <p:cNvPr id="46" name="S1B_label_hard_03"/>
          <p:cNvSpPr txBox="1"/>
          <p:nvPr/>
        </p:nvSpPr>
        <p:spPr>
          <a:xfrm>
            <a:off x="329184" y="341985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wrap="none" lIns="18288" rIns="18288" tIns="18288" bIns="18288" anchor="ctr">
            <a:spAutoFit/>
          </a:bodyPr>
          <a:lstStyle/>
          <a:p>
            <a:pPr algn="r"/>
            <a:r>
              <a:rPr sz="950" b="1" i="0">
                <a:solidFill>
                  <a:srgbClr val="17365D"/>
                </a:solidFill>
                <a:latin typeface="Liberation Sans"/>
              </a:rPr>
              <a:t>hard_03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847088" y="3547872"/>
            <a:ext cx="69723" cy="0"/>
          </a:xfrm>
          <a:prstGeom prst="line">
            <a:avLst/>
          </a:prstGeom>
          <a:ln w="25400">
            <a:solidFill>
              <a:srgbClr val="D55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S1B_marker_hard_03"/>
          <p:cNvSpPr/>
          <p:nvPr/>
        </p:nvSpPr>
        <p:spPr>
          <a:xfrm>
            <a:off x="1857375" y="3488436"/>
            <a:ext cx="118872" cy="118872"/>
          </a:xfrm>
          <a:prstGeom prst="triangle">
            <a:avLst/>
          </a:prstGeom>
          <a:solidFill>
            <a:srgbClr val="D55E00"/>
          </a:solidFill>
          <a:ln w="10160">
            <a:solidFill>
              <a:srgbClr val="D5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1B_value_hard_03"/>
          <p:cNvSpPr txBox="1"/>
          <p:nvPr/>
        </p:nvSpPr>
        <p:spPr>
          <a:xfrm>
            <a:off x="2008251" y="3419856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D55E00"/>
                </a:solidFill>
                <a:latin typeface="Liberation Sans"/>
              </a:rPr>
              <a:t>1 (0.25%)</a:t>
            </a:r>
          </a:p>
        </p:txBody>
      </p:sp>
      <p:sp>
        <p:nvSpPr>
          <p:cNvPr id="50" name="S1_footer"/>
          <p:cNvSpPr/>
          <p:nvPr/>
        </p:nvSpPr>
        <p:spPr>
          <a:xfrm>
            <a:off x="384048" y="4370832"/>
            <a:ext cx="4901184" cy="274320"/>
          </a:xfrm>
          <a:prstGeom prst="roundRect">
            <a:avLst/>
          </a:prstGeom>
          <a:solidFill>
            <a:srgbClr val="EAF1F8"/>
          </a:solidFill>
          <a:ln w="10160">
            <a:solidFill>
              <a:srgbClr val="007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30" b="1" i="0">
                <a:solidFill>
                  <a:srgbClr val="222222"/>
                </a:solidFill>
                <a:latin typeface="Liberation Sans"/>
              </a:rPr>
              <a:t>Selection frequency is descriptive; confirmation conditions on the selected candidate and fixed archive.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