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331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nvas_Background"/>
          <p:cNvSpPr/>
          <p:nvPr/>
        </p:nvSpPr>
        <p:spPr>
          <a:xfrm>
            <a:off x="0" y="0"/>
            <a:ext cx="6480000" cy="331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hase_upstream"/>
          <p:cNvSpPr txBox="1"/>
          <p:nvPr/>
        </p:nvSpPr>
        <p:spPr>
          <a:xfrm>
            <a:off x="180000" y="79200"/>
            <a:ext cx="1188000" cy="180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95959"/>
                </a:solidFill>
                <a:latin typeface="Arimo"/>
              </a:rPr>
              <a:t>UPSTREAM</a:t>
            </a:r>
          </a:p>
        </p:txBody>
      </p:sp>
      <p:sp>
        <p:nvSpPr>
          <p:cNvPr id="4" name="phase_frozen"/>
          <p:cNvSpPr txBox="1"/>
          <p:nvPr/>
        </p:nvSpPr>
        <p:spPr>
          <a:xfrm>
            <a:off x="1476000" y="28800"/>
            <a:ext cx="3168000" cy="324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365D"/>
                </a:solidFill>
                <a:latin typeface="Arimo"/>
              </a:rPr>
              <a:t>PROSPECTIVELY FROZEN AND HASHED
BEFORE EXECUTION</a:t>
            </a:r>
          </a:p>
        </p:txBody>
      </p:sp>
      <p:cxnSp>
        <p:nvCxnSpPr>
          <p:cNvPr id="5" name="arr_1_2_shaft"/>
          <p:cNvCxnSpPr/>
          <p:nvPr/>
        </p:nvCxnSpPr>
        <p:spPr>
          <a:xfrm>
            <a:off x="1332000" y="900000"/>
            <a:ext cx="160560" cy="0"/>
          </a:xfrm>
          <a:prstGeom prst="line">
            <a:avLst/>
          </a:prstGeom>
          <a:ln w="1651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arr_1_2_head"/>
          <p:cNvSpPr/>
          <p:nvPr/>
        </p:nvSpPr>
        <p:spPr>
          <a:xfrm rot="5400000">
            <a:off x="1497600" y="849600"/>
            <a:ext cx="100800" cy="100800"/>
          </a:xfrm>
          <a:prstGeom prst="triangle">
            <a:avLst/>
          </a:prstGeom>
          <a:solidFill>
            <a:srgbClr val="17365D"/>
          </a:solidFill>
          <a:ln w="25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arr_2_3_shaft"/>
          <p:cNvCxnSpPr/>
          <p:nvPr/>
        </p:nvCxnSpPr>
        <p:spPr>
          <a:xfrm>
            <a:off x="2808000" y="900000"/>
            <a:ext cx="160559" cy="0"/>
          </a:xfrm>
          <a:prstGeom prst="line">
            <a:avLst/>
          </a:prstGeom>
          <a:ln w="1651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rr_2_3_head"/>
          <p:cNvSpPr/>
          <p:nvPr/>
        </p:nvSpPr>
        <p:spPr>
          <a:xfrm rot="5400000">
            <a:off x="2973600" y="849600"/>
            <a:ext cx="100800" cy="100800"/>
          </a:xfrm>
          <a:prstGeom prst="triangle">
            <a:avLst/>
          </a:prstGeom>
          <a:solidFill>
            <a:srgbClr val="17365D"/>
          </a:solidFill>
          <a:ln w="25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arr_3_cert_shaft"/>
          <p:cNvCxnSpPr/>
          <p:nvPr/>
        </p:nvCxnSpPr>
        <p:spPr>
          <a:xfrm flipV="1">
            <a:off x="4536000" y="587979"/>
            <a:ext cx="205365" cy="132021"/>
          </a:xfrm>
          <a:prstGeom prst="line">
            <a:avLst/>
          </a:prstGeom>
          <a:ln w="1651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rr_3_cert_head"/>
          <p:cNvSpPr/>
          <p:nvPr/>
        </p:nvSpPr>
        <p:spPr>
          <a:xfrm rot="3435886">
            <a:off x="4737600" y="507600"/>
            <a:ext cx="100800" cy="100800"/>
          </a:xfrm>
          <a:prstGeom prst="triangle">
            <a:avLst/>
          </a:prstGeom>
          <a:solidFill>
            <a:srgbClr val="17365D"/>
          </a:solidFill>
          <a:ln w="25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arr_3_und_shaft"/>
          <p:cNvCxnSpPr/>
          <p:nvPr/>
        </p:nvCxnSpPr>
        <p:spPr>
          <a:xfrm>
            <a:off x="4536000" y="1080000"/>
            <a:ext cx="212798" cy="212798"/>
          </a:xfrm>
          <a:prstGeom prst="line">
            <a:avLst/>
          </a:prstGeom>
          <a:ln w="1651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rr_3_und_head"/>
          <p:cNvSpPr/>
          <p:nvPr/>
        </p:nvSpPr>
        <p:spPr>
          <a:xfrm rot="8100000">
            <a:off x="4737600" y="1281600"/>
            <a:ext cx="100800" cy="100800"/>
          </a:xfrm>
          <a:prstGeom prst="triangle">
            <a:avLst/>
          </a:prstGeom>
          <a:solidFill>
            <a:srgbClr val="17365D"/>
          </a:solidFill>
          <a:ln w="25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arr_3_art_shaft"/>
          <p:cNvCxnSpPr/>
          <p:nvPr/>
        </p:nvCxnSpPr>
        <p:spPr>
          <a:xfrm>
            <a:off x="3780000" y="1440000"/>
            <a:ext cx="0" cy="286560"/>
          </a:xfrm>
          <a:prstGeom prst="line">
            <a:avLst/>
          </a:prstGeom>
          <a:ln w="1651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rr_3_art_head"/>
          <p:cNvSpPr/>
          <p:nvPr/>
        </p:nvSpPr>
        <p:spPr>
          <a:xfrm rot="10800000">
            <a:off x="3729600" y="1731600"/>
            <a:ext cx="100800" cy="100800"/>
          </a:xfrm>
          <a:prstGeom prst="triangle">
            <a:avLst/>
          </a:prstGeom>
          <a:solidFill>
            <a:srgbClr val="17365D"/>
          </a:solidFill>
          <a:ln w="25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upstream_box"/>
          <p:cNvSpPr/>
          <p:nvPr/>
        </p:nvSpPr>
        <p:spPr>
          <a:xfrm>
            <a:off x="180000" y="360000"/>
            <a:ext cx="1152000" cy="1080000"/>
          </a:xfrm>
          <a:prstGeom prst="roundRect">
            <a:avLst/>
          </a:prstGeom>
          <a:solidFill>
            <a:srgbClr val="EAF1F8"/>
          </a:solidFill>
          <a:ln w="152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upstream_title"/>
          <p:cNvSpPr txBox="1"/>
          <p:nvPr/>
        </p:nvSpPr>
        <p:spPr>
          <a:xfrm>
            <a:off x="259200" y="424800"/>
            <a:ext cx="993600" cy="288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7365D"/>
                </a:solidFill>
                <a:latin typeface="Arimo"/>
              </a:rPr>
              <a:t>Upstream selection</a:t>
            </a:r>
          </a:p>
        </p:txBody>
      </p:sp>
      <p:sp>
        <p:nvSpPr>
          <p:cNvPr id="17" name="upstream_body"/>
          <p:cNvSpPr txBox="1"/>
          <p:nvPr/>
        </p:nvSpPr>
        <p:spPr>
          <a:xfrm>
            <a:off x="280800" y="712800"/>
            <a:ext cx="950399" cy="666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F1F1F"/>
                </a:solidFill>
                <a:latin typeface="Arimo"/>
              </a:rPr>
              <a:t>optimiser, heuristic
or expert process</a:t>
            </a:r>
          </a:p>
        </p:txBody>
      </p:sp>
      <p:sp>
        <p:nvSpPr>
          <p:cNvPr id="18" name="declaration_box"/>
          <p:cNvSpPr/>
          <p:nvPr/>
        </p:nvSpPr>
        <p:spPr>
          <a:xfrm>
            <a:off x="1548000" y="360000"/>
            <a:ext cx="1260000" cy="108000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A3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eclaration_title"/>
          <p:cNvSpPr txBox="1"/>
          <p:nvPr/>
        </p:nvSpPr>
        <p:spPr>
          <a:xfrm>
            <a:off x="1627200" y="424800"/>
            <a:ext cx="1101600" cy="288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A34B00"/>
                </a:solidFill>
                <a:latin typeface="Arimo"/>
              </a:rPr>
              <a:t>Frozen declaration</a:t>
            </a:r>
          </a:p>
        </p:txBody>
      </p:sp>
      <p:sp>
        <p:nvSpPr>
          <p:cNvPr id="20" name="declaration_body"/>
          <p:cNvSpPr txBox="1"/>
          <p:nvPr/>
        </p:nvSpPr>
        <p:spPr>
          <a:xfrm>
            <a:off x="1648800" y="712800"/>
            <a:ext cx="1058400" cy="666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F1F1F"/>
                </a:solidFill>
                <a:latin typeface="Arimo"/>
              </a:rPr>
              <a:t>selected candidate c
fixed archive A</a:t>
            </a:r>
          </a:p>
        </p:txBody>
      </p:sp>
      <p:sp>
        <p:nvSpPr>
          <p:cNvPr id="21" name="confirmation_box"/>
          <p:cNvSpPr/>
          <p:nvPr/>
        </p:nvSpPr>
        <p:spPr>
          <a:xfrm>
            <a:off x="3024000" y="360000"/>
            <a:ext cx="1512000" cy="1080000"/>
          </a:xfrm>
          <a:prstGeom prst="roundRect">
            <a:avLst/>
          </a:prstGeom>
          <a:solidFill>
            <a:srgbClr val="E2F0D9"/>
          </a:solidFill>
          <a:ln w="15240">
            <a:solidFill>
              <a:srgbClr val="2F6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nfirmation_title"/>
          <p:cNvSpPr txBox="1"/>
          <p:nvPr/>
        </p:nvSpPr>
        <p:spPr>
          <a:xfrm>
            <a:off x="3103200" y="424800"/>
            <a:ext cx="1353600" cy="288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2F6B2F"/>
                </a:solidFill>
                <a:latin typeface="Arimo"/>
              </a:rPr>
              <a:t>Confirmation layer</a:t>
            </a:r>
          </a:p>
        </p:txBody>
      </p:sp>
      <p:sp>
        <p:nvSpPr>
          <p:cNvPr id="23" name="confirmation_body"/>
          <p:cNvSpPr txBox="1"/>
          <p:nvPr/>
        </p:nvSpPr>
        <p:spPr>
          <a:xfrm>
            <a:off x="3124800" y="712800"/>
            <a:ext cx="1310400" cy="666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F1F1F"/>
                </a:solidFill>
                <a:latin typeface="Arimo"/>
              </a:rPr>
              <a:t>fresh independent or
paired evidence</a:t>
            </a:r>
          </a:p>
        </p:txBody>
      </p:sp>
      <p:sp>
        <p:nvSpPr>
          <p:cNvPr id="24" name="certificate_box"/>
          <p:cNvSpPr/>
          <p:nvPr/>
        </p:nvSpPr>
        <p:spPr>
          <a:xfrm>
            <a:off x="4788000" y="234000"/>
            <a:ext cx="1512000" cy="648000"/>
          </a:xfrm>
          <a:prstGeom prst="roundRect">
            <a:avLst/>
          </a:prstGeom>
          <a:solidFill>
            <a:srgbClr val="E2F0D9"/>
          </a:solidFill>
          <a:ln w="15240">
            <a:solidFill>
              <a:srgbClr val="2F6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ertificate_title"/>
          <p:cNvSpPr txBox="1"/>
          <p:nvPr/>
        </p:nvSpPr>
        <p:spPr>
          <a:xfrm>
            <a:off x="4867199" y="298800"/>
            <a:ext cx="1353600" cy="2088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B2F"/>
                </a:solidFill>
                <a:latin typeface="Arimo"/>
              </a:rPr>
              <a:t>Certificate</a:t>
            </a:r>
          </a:p>
        </p:txBody>
      </p:sp>
      <p:sp>
        <p:nvSpPr>
          <p:cNvPr id="26" name="certificate_body"/>
          <p:cNvSpPr txBox="1"/>
          <p:nvPr/>
        </p:nvSpPr>
        <p:spPr>
          <a:xfrm>
            <a:off x="4888800" y="507600"/>
            <a:ext cx="1310400" cy="3132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1F1F1F"/>
                </a:solidFill>
                <a:latin typeface="Arimo"/>
              </a:rPr>
              <a:t>strict positive-witness
archive separation</a:t>
            </a:r>
          </a:p>
        </p:txBody>
      </p:sp>
      <p:sp>
        <p:nvSpPr>
          <p:cNvPr id="27" name="undecided_box"/>
          <p:cNvSpPr/>
          <p:nvPr/>
        </p:nvSpPr>
        <p:spPr>
          <a:xfrm>
            <a:off x="4788000" y="1026000"/>
            <a:ext cx="1512000" cy="64800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A3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undecided_title"/>
          <p:cNvSpPr txBox="1"/>
          <p:nvPr/>
        </p:nvSpPr>
        <p:spPr>
          <a:xfrm>
            <a:off x="4867199" y="1090800"/>
            <a:ext cx="1353600" cy="2088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34B00"/>
                </a:solidFill>
                <a:latin typeface="Arimo"/>
              </a:rPr>
              <a:t>Undecided</a:t>
            </a:r>
          </a:p>
        </p:txBody>
      </p:sp>
      <p:sp>
        <p:nvSpPr>
          <p:cNvPr id="29" name="undecided_body"/>
          <p:cNvSpPr txBox="1"/>
          <p:nvPr/>
        </p:nvSpPr>
        <p:spPr>
          <a:xfrm>
            <a:off x="4888800" y="1299600"/>
            <a:ext cx="1310400" cy="3132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F1F1F"/>
                </a:solidFill>
                <a:latin typeface="Arimo"/>
              </a:rPr>
              <a:t>no negative verdict</a:t>
            </a:r>
          </a:p>
        </p:txBody>
      </p:sp>
      <p:sp>
        <p:nvSpPr>
          <p:cNvPr id="30" name="artifact_box"/>
          <p:cNvSpPr/>
          <p:nvPr/>
        </p:nvSpPr>
        <p:spPr>
          <a:xfrm>
            <a:off x="1548000" y="1782000"/>
            <a:ext cx="4752000" cy="72000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rtifact_title"/>
          <p:cNvSpPr txBox="1"/>
          <p:nvPr/>
        </p:nvSpPr>
        <p:spPr>
          <a:xfrm>
            <a:off x="1692000" y="1836000"/>
            <a:ext cx="4464000" cy="198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365D"/>
                </a:solidFill>
                <a:latin typeface="Arimo"/>
              </a:rPr>
              <a:t>Replayable evidence artefact</a:t>
            </a:r>
          </a:p>
        </p:txBody>
      </p:sp>
      <p:sp>
        <p:nvSpPr>
          <p:cNvPr id="32" name="art_chip_1_box"/>
          <p:cNvSpPr/>
          <p:nvPr/>
        </p:nvSpPr>
        <p:spPr>
          <a:xfrm>
            <a:off x="1764000" y="2124000"/>
            <a:ext cx="540000" cy="25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rt_chip_1_text"/>
          <p:cNvSpPr txBox="1"/>
          <p:nvPr/>
        </p:nvSpPr>
        <p:spPr>
          <a:xfrm>
            <a:off x="1785600" y="2131200"/>
            <a:ext cx="496800" cy="237599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365D"/>
                </a:solidFill>
                <a:latin typeface="Arimo"/>
              </a:rPr>
              <a:t>claim</a:t>
            </a:r>
          </a:p>
        </p:txBody>
      </p:sp>
      <p:sp>
        <p:nvSpPr>
          <p:cNvPr id="34" name="art_chip_2_box"/>
          <p:cNvSpPr/>
          <p:nvPr/>
        </p:nvSpPr>
        <p:spPr>
          <a:xfrm>
            <a:off x="2376000" y="2124000"/>
            <a:ext cx="720000" cy="25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rt_chip_2_text"/>
          <p:cNvSpPr txBox="1"/>
          <p:nvPr/>
        </p:nvSpPr>
        <p:spPr>
          <a:xfrm>
            <a:off x="2397600" y="2131200"/>
            <a:ext cx="676800" cy="237599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365D"/>
                </a:solidFill>
                <a:latin typeface="Arimo"/>
              </a:rPr>
              <a:t>raw hash</a:t>
            </a:r>
          </a:p>
        </p:txBody>
      </p:sp>
      <p:sp>
        <p:nvSpPr>
          <p:cNvPr id="36" name="art_chip_3_box"/>
          <p:cNvSpPr/>
          <p:nvPr/>
        </p:nvSpPr>
        <p:spPr>
          <a:xfrm>
            <a:off x="3168000" y="2124000"/>
            <a:ext cx="684000" cy="25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rt_chip_3_text"/>
          <p:cNvSpPr txBox="1"/>
          <p:nvPr/>
        </p:nvSpPr>
        <p:spPr>
          <a:xfrm>
            <a:off x="3189600" y="2131200"/>
            <a:ext cx="640800" cy="237599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365D"/>
                </a:solidFill>
                <a:latin typeface="Arimo"/>
              </a:rPr>
              <a:t>statistics</a:t>
            </a:r>
          </a:p>
        </p:txBody>
      </p:sp>
      <p:sp>
        <p:nvSpPr>
          <p:cNvPr id="38" name="art_chip_4_box"/>
          <p:cNvSpPr/>
          <p:nvPr/>
        </p:nvSpPr>
        <p:spPr>
          <a:xfrm>
            <a:off x="3924000" y="2124000"/>
            <a:ext cx="684000" cy="25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rt_chip_4_text"/>
          <p:cNvSpPr txBox="1"/>
          <p:nvPr/>
        </p:nvSpPr>
        <p:spPr>
          <a:xfrm>
            <a:off x="3945600" y="2131200"/>
            <a:ext cx="640800" cy="237599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365D"/>
                </a:solidFill>
                <a:latin typeface="Arimo"/>
              </a:rPr>
              <a:t>boundary</a:t>
            </a:r>
          </a:p>
        </p:txBody>
      </p:sp>
      <p:sp>
        <p:nvSpPr>
          <p:cNvPr id="40" name="art_chip_5_box"/>
          <p:cNvSpPr/>
          <p:nvPr/>
        </p:nvSpPr>
        <p:spPr>
          <a:xfrm>
            <a:off x="4680000" y="2124000"/>
            <a:ext cx="720000" cy="25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rt_chip_5_text"/>
          <p:cNvSpPr txBox="1"/>
          <p:nvPr/>
        </p:nvSpPr>
        <p:spPr>
          <a:xfrm>
            <a:off x="4701600" y="2131200"/>
            <a:ext cx="676800" cy="237599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365D"/>
                </a:solidFill>
                <a:latin typeface="Arimo"/>
              </a:rPr>
              <a:t>stop count</a:t>
            </a:r>
          </a:p>
        </p:txBody>
      </p:sp>
      <p:sp>
        <p:nvSpPr>
          <p:cNvPr id="42" name="art_chip_6_box"/>
          <p:cNvSpPr/>
          <p:nvPr/>
        </p:nvSpPr>
        <p:spPr>
          <a:xfrm>
            <a:off x="5472000" y="2124000"/>
            <a:ext cx="612000" cy="25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rt_chip_6_text"/>
          <p:cNvSpPr txBox="1"/>
          <p:nvPr/>
        </p:nvSpPr>
        <p:spPr>
          <a:xfrm>
            <a:off x="5493600" y="2131200"/>
            <a:ext cx="568800" cy="237599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365D"/>
                </a:solidFill>
                <a:latin typeface="Arimo"/>
              </a:rPr>
              <a:t>verdict</a:t>
            </a:r>
          </a:p>
        </p:txBody>
      </p:sp>
      <p:sp>
        <p:nvSpPr>
          <p:cNvPr id="44" name="trust_band"/>
          <p:cNvSpPr/>
          <p:nvPr/>
        </p:nvSpPr>
        <p:spPr>
          <a:xfrm>
            <a:off x="180000" y="2700000"/>
            <a:ext cx="6120000" cy="432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rust_label"/>
          <p:cNvSpPr txBox="1"/>
          <p:nvPr/>
        </p:nvSpPr>
        <p:spPr>
          <a:xfrm>
            <a:off x="288000" y="2750400"/>
            <a:ext cx="1008000" cy="306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A00000"/>
                </a:solidFill>
                <a:latin typeface="Arimo"/>
              </a:rPr>
              <a:t>TRUST BOUNDARY</a:t>
            </a:r>
          </a:p>
        </p:txBody>
      </p:sp>
      <p:sp>
        <p:nvSpPr>
          <p:cNvPr id="46" name="trust_text"/>
          <p:cNvSpPr txBox="1"/>
          <p:nvPr/>
        </p:nvSpPr>
        <p:spPr>
          <a:xfrm>
            <a:off x="1332000" y="2725200"/>
            <a:ext cx="4824000" cy="3528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F1F1F"/>
                </a:solidFill>
                <a:latin typeface="Arimo"/>
              </a:rPr>
              <a:t>Replay verifies the bound evidence chain; simulator authenticity and model adequacy remain outside.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