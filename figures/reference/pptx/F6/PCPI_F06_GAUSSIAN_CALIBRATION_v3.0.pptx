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69280" cy="4754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ure_title"/>
          <p:cNvSpPr txBox="1"/>
          <p:nvPr/>
        </p:nvSpPr>
        <p:spPr>
          <a:xfrm>
            <a:off x="228600" y="91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7365D"/>
                </a:solidFill>
                <a:latin typeface="Liberation Sans"/>
              </a:rPr>
              <a:t>Exact Gaussian null calibration</a:t>
            </a:r>
          </a:p>
        </p:txBody>
      </p:sp>
      <p:sp>
        <p:nvSpPr>
          <p:cNvPr id="3" name="figure_subtitle"/>
          <p:cNvSpPr txBox="1"/>
          <p:nvPr/>
        </p:nvSpPr>
        <p:spPr>
          <a:xfrm>
            <a:off x="320040" y="36576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Liberation Sans"/>
              </a:rPr>
              <a:t>Observed false-certification rates and family-wise adjusted one-sided 95% upper bounds</a:t>
            </a:r>
          </a:p>
        </p:txBody>
      </p:sp>
      <p:sp>
        <p:nvSpPr>
          <p:cNvPr id="4" name="F6A_panel"/>
          <p:cNvSpPr/>
          <p:nvPr/>
        </p:nvSpPr>
        <p:spPr>
          <a:xfrm>
            <a:off x="182880" y="658368"/>
            <a:ext cx="3822191" cy="3639312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6A_label"/>
          <p:cNvSpPr/>
          <p:nvPr/>
        </p:nvSpPr>
        <p:spPr>
          <a:xfrm>
            <a:off x="274320" y="713232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A</a:t>
            </a:r>
          </a:p>
        </p:txBody>
      </p:sp>
      <p:sp>
        <p:nvSpPr>
          <p:cNvPr id="6" name="F6A_title"/>
          <p:cNvSpPr txBox="1"/>
          <p:nvPr/>
        </p:nvSpPr>
        <p:spPr>
          <a:xfrm>
            <a:off x="566928" y="694944"/>
            <a:ext cx="3364991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Twelve frozen calibration cells</a:t>
            </a:r>
          </a:p>
        </p:txBody>
      </p:sp>
      <p:sp>
        <p:nvSpPr>
          <p:cNvPr id="7" name="F6B_panel"/>
          <p:cNvSpPr/>
          <p:nvPr/>
        </p:nvSpPr>
        <p:spPr>
          <a:xfrm>
            <a:off x="4114800" y="658368"/>
            <a:ext cx="1371600" cy="3639312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6B_label"/>
          <p:cNvSpPr/>
          <p:nvPr/>
        </p:nvSpPr>
        <p:spPr>
          <a:xfrm>
            <a:off x="4206240" y="713232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B</a:t>
            </a:r>
          </a:p>
        </p:txBody>
      </p:sp>
      <p:sp>
        <p:nvSpPr>
          <p:cNvPr id="9" name="F6B_title"/>
          <p:cNvSpPr txBox="1"/>
          <p:nvPr/>
        </p:nvSpPr>
        <p:spPr>
          <a:xfrm>
            <a:off x="4498848" y="6949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Gate summary</a:t>
            </a:r>
          </a:p>
        </p:txBody>
      </p:sp>
      <p:sp>
        <p:nvSpPr>
          <p:cNvPr id="10" name="F6_leg_obs_marker"/>
          <p:cNvSpPr/>
          <p:nvPr/>
        </p:nvSpPr>
        <p:spPr>
          <a:xfrm>
            <a:off x="1920240" y="960120"/>
            <a:ext cx="91440" cy="91440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6_leg_obs_text"/>
          <p:cNvSpPr txBox="1"/>
          <p:nvPr/>
        </p:nvSpPr>
        <p:spPr>
          <a:xfrm>
            <a:off x="2048256" y="896112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Liberation Sans"/>
              </a:rPr>
              <a:t>Observed</a:t>
            </a:r>
          </a:p>
        </p:txBody>
      </p:sp>
      <p:sp>
        <p:nvSpPr>
          <p:cNvPr id="12" name="F6_leg_upper_marker"/>
          <p:cNvSpPr/>
          <p:nvPr/>
        </p:nvSpPr>
        <p:spPr>
          <a:xfrm>
            <a:off x="2788920" y="960120"/>
            <a:ext cx="91440" cy="91440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6_leg_upper_text"/>
          <p:cNvSpPr txBox="1"/>
          <p:nvPr/>
        </p:nvSpPr>
        <p:spPr>
          <a:xfrm>
            <a:off x="2916936" y="896112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Liberation Sans"/>
              </a:rPr>
              <a:t>Adjusted upper</a:t>
            </a:r>
          </a:p>
        </p:txBody>
      </p:sp>
      <p:sp>
        <p:nvSpPr>
          <p:cNvPr id="14" name="F6_method_coordinate"/>
          <p:cNvSpPr txBox="1"/>
          <p:nvPr/>
        </p:nvSpPr>
        <p:spPr>
          <a:xfrm>
            <a:off x="274320" y="1463039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7365D"/>
                </a:solidFill>
                <a:latin typeface="Liberation Sans"/>
              </a:rPr>
              <a:t>Coordinate</a:t>
            </a:r>
          </a:p>
        </p:txBody>
      </p:sp>
      <p:sp>
        <p:nvSpPr>
          <p:cNvPr id="15" name="F6_label_NULL-00"/>
          <p:cNvSpPr txBox="1"/>
          <p:nvPr/>
        </p:nvSpPr>
        <p:spPr>
          <a:xfrm>
            <a:off x="1024128" y="1175004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d2-I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00106" y="1280160"/>
            <a:ext cx="1086461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6_obs_NULL-00"/>
          <p:cNvSpPr/>
          <p:nvPr/>
        </p:nvSpPr>
        <p:spPr>
          <a:xfrm>
            <a:off x="1656672" y="1236725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6_up_NULL-00"/>
          <p:cNvSpPr/>
          <p:nvPr/>
        </p:nvSpPr>
        <p:spPr>
          <a:xfrm>
            <a:off x="2743133" y="1236725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6_label_NULL-01"/>
          <p:cNvSpPr txBox="1"/>
          <p:nvPr/>
        </p:nvSpPr>
        <p:spPr>
          <a:xfrm>
            <a:off x="1024128" y="1389887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d2-r.5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1850" y="1495043"/>
            <a:ext cx="1447467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6_obs_NULL-01"/>
          <p:cNvSpPr/>
          <p:nvPr/>
        </p:nvSpPr>
        <p:spPr>
          <a:xfrm>
            <a:off x="2148416" y="1451609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6_up_NULL-01"/>
          <p:cNvSpPr/>
          <p:nvPr/>
        </p:nvSpPr>
        <p:spPr>
          <a:xfrm>
            <a:off x="3595883" y="1451609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6_label_NULL-02"/>
          <p:cNvSpPr txBox="1"/>
          <p:nvPr/>
        </p:nvSpPr>
        <p:spPr>
          <a:xfrm>
            <a:off x="1024128" y="1604772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d4-I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91850" y="1709928"/>
            <a:ext cx="1447467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6_obs_NULL-02"/>
          <p:cNvSpPr/>
          <p:nvPr/>
        </p:nvSpPr>
        <p:spPr>
          <a:xfrm>
            <a:off x="2148416" y="1666493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6_up_NULL-02"/>
          <p:cNvSpPr/>
          <p:nvPr/>
        </p:nvSpPr>
        <p:spPr>
          <a:xfrm>
            <a:off x="3595883" y="1666493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6_label_NULL-03"/>
          <p:cNvSpPr txBox="1"/>
          <p:nvPr/>
        </p:nvSpPr>
        <p:spPr>
          <a:xfrm>
            <a:off x="1024128" y="1819656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d4-r.5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64021" y="1924812"/>
            <a:ext cx="1227268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6_obs_NULL-03"/>
          <p:cNvSpPr/>
          <p:nvPr/>
        </p:nvSpPr>
        <p:spPr>
          <a:xfrm>
            <a:off x="1820587" y="1881378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6_up_NULL-03"/>
          <p:cNvSpPr/>
          <p:nvPr/>
        </p:nvSpPr>
        <p:spPr>
          <a:xfrm>
            <a:off x="3047855" y="1881378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47472" y="2020824"/>
            <a:ext cx="3493008" cy="0"/>
          </a:xfrm>
          <a:prstGeom prst="line">
            <a:avLst/>
          </a:prstGeom>
          <a:ln w="1016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6_method_hotelling"/>
          <p:cNvSpPr txBox="1"/>
          <p:nvPr/>
        </p:nvSpPr>
        <p:spPr>
          <a:xfrm>
            <a:off x="274320" y="2322576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7365D"/>
                </a:solidFill>
                <a:latin typeface="Liberation Sans"/>
              </a:rPr>
              <a:t>Hotelling</a:t>
            </a:r>
          </a:p>
        </p:txBody>
      </p:sp>
      <p:sp>
        <p:nvSpPr>
          <p:cNvPr id="33" name="F6_label_NULL-04"/>
          <p:cNvSpPr txBox="1"/>
          <p:nvPr/>
        </p:nvSpPr>
        <p:spPr>
          <a:xfrm>
            <a:off x="1024128" y="2034539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d2-I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00106" y="2139696"/>
            <a:ext cx="1086461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6_obs_NULL-04"/>
          <p:cNvSpPr/>
          <p:nvPr/>
        </p:nvSpPr>
        <p:spPr>
          <a:xfrm>
            <a:off x="1656672" y="2096262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6_up_NULL-04"/>
          <p:cNvSpPr/>
          <p:nvPr/>
        </p:nvSpPr>
        <p:spPr>
          <a:xfrm>
            <a:off x="2743133" y="2096262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6_label_NULL-05"/>
          <p:cNvSpPr txBox="1"/>
          <p:nvPr/>
        </p:nvSpPr>
        <p:spPr>
          <a:xfrm>
            <a:off x="1024128" y="2249423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d2-r.5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00106" y="2354579"/>
            <a:ext cx="1086461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6_obs_NULL-05"/>
          <p:cNvSpPr/>
          <p:nvPr/>
        </p:nvSpPr>
        <p:spPr>
          <a:xfrm>
            <a:off x="1656672" y="2311146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6_up_NULL-05"/>
          <p:cNvSpPr/>
          <p:nvPr/>
        </p:nvSpPr>
        <p:spPr>
          <a:xfrm>
            <a:off x="2743133" y="2311146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6_label_NULL-06"/>
          <p:cNvSpPr txBox="1"/>
          <p:nvPr/>
        </p:nvSpPr>
        <p:spPr>
          <a:xfrm>
            <a:off x="1024128" y="2464307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d4-I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00106" y="2569463"/>
            <a:ext cx="1086461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6_obs_NULL-06"/>
          <p:cNvSpPr/>
          <p:nvPr/>
        </p:nvSpPr>
        <p:spPr>
          <a:xfrm>
            <a:off x="1656672" y="2526029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6_up_NULL-06"/>
          <p:cNvSpPr/>
          <p:nvPr/>
        </p:nvSpPr>
        <p:spPr>
          <a:xfrm>
            <a:off x="2743133" y="2526029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6_label_NULL-07"/>
          <p:cNvSpPr txBox="1"/>
          <p:nvPr/>
        </p:nvSpPr>
        <p:spPr>
          <a:xfrm>
            <a:off x="1024128" y="2679191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d4-r.5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36192" y="2784348"/>
            <a:ext cx="897537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6_obs_NULL-07"/>
          <p:cNvSpPr/>
          <p:nvPr/>
        </p:nvSpPr>
        <p:spPr>
          <a:xfrm>
            <a:off x="1492757" y="2740914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6_up_NULL-07"/>
          <p:cNvSpPr/>
          <p:nvPr/>
        </p:nvSpPr>
        <p:spPr>
          <a:xfrm>
            <a:off x="2390295" y="2740914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47472" y="2880360"/>
            <a:ext cx="3493008" cy="0"/>
          </a:xfrm>
          <a:prstGeom prst="line">
            <a:avLst/>
          </a:prstGeom>
          <a:ln w="1016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6_method_hybrid"/>
          <p:cNvSpPr txBox="1"/>
          <p:nvPr/>
        </p:nvSpPr>
        <p:spPr>
          <a:xfrm>
            <a:off x="274320" y="3182112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7365D"/>
                </a:solidFill>
                <a:latin typeface="Liberation Sans"/>
              </a:rPr>
              <a:t>Hybrid</a:t>
            </a:r>
          </a:p>
        </p:txBody>
      </p:sp>
      <p:sp>
        <p:nvSpPr>
          <p:cNvPr id="51" name="F6_label_NULL-08"/>
          <p:cNvSpPr txBox="1"/>
          <p:nvPr/>
        </p:nvSpPr>
        <p:spPr>
          <a:xfrm>
            <a:off x="1024128" y="2894075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d2-I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700106" y="2999232"/>
            <a:ext cx="1086461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6_obs_NULL-08"/>
          <p:cNvSpPr/>
          <p:nvPr/>
        </p:nvSpPr>
        <p:spPr>
          <a:xfrm>
            <a:off x="1656672" y="2955798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6_up_NULL-08"/>
          <p:cNvSpPr/>
          <p:nvPr/>
        </p:nvSpPr>
        <p:spPr>
          <a:xfrm>
            <a:off x="2743133" y="2955798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6_label_NULL-09"/>
          <p:cNvSpPr txBox="1"/>
          <p:nvPr/>
        </p:nvSpPr>
        <p:spPr>
          <a:xfrm>
            <a:off x="1024128" y="3108959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d2-r.5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700106" y="3214115"/>
            <a:ext cx="1086461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6_obs_NULL-09"/>
          <p:cNvSpPr/>
          <p:nvPr/>
        </p:nvSpPr>
        <p:spPr>
          <a:xfrm>
            <a:off x="1656672" y="3170682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6_up_NULL-09"/>
          <p:cNvSpPr/>
          <p:nvPr/>
        </p:nvSpPr>
        <p:spPr>
          <a:xfrm>
            <a:off x="2743133" y="3170682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6_label_NULL-10"/>
          <p:cNvSpPr txBox="1"/>
          <p:nvPr/>
        </p:nvSpPr>
        <p:spPr>
          <a:xfrm>
            <a:off x="1024128" y="3323843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d4-I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864021" y="3428999"/>
            <a:ext cx="1227268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6_obs_NULL-10"/>
          <p:cNvSpPr/>
          <p:nvPr/>
        </p:nvSpPr>
        <p:spPr>
          <a:xfrm>
            <a:off x="1820587" y="3385565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6_up_NULL-10"/>
          <p:cNvSpPr/>
          <p:nvPr/>
        </p:nvSpPr>
        <p:spPr>
          <a:xfrm>
            <a:off x="3047855" y="3385565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6_label_NULL-11"/>
          <p:cNvSpPr txBox="1"/>
          <p:nvPr/>
        </p:nvSpPr>
        <p:spPr>
          <a:xfrm>
            <a:off x="1024128" y="3538727"/>
            <a:ext cx="438912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d4-r.5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864021" y="3643884"/>
            <a:ext cx="1227268" cy="0"/>
          </a:xfrm>
          <a:prstGeom prst="line">
            <a:avLst/>
          </a:prstGeom>
          <a:ln w="1143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6_obs_NULL-11"/>
          <p:cNvSpPr/>
          <p:nvPr/>
        </p:nvSpPr>
        <p:spPr>
          <a:xfrm>
            <a:off x="1820587" y="3600450"/>
            <a:ext cx="86868" cy="86868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6_up_NULL-11"/>
          <p:cNvSpPr/>
          <p:nvPr/>
        </p:nvSpPr>
        <p:spPr>
          <a:xfrm>
            <a:off x="3047855" y="3600450"/>
            <a:ext cx="86868" cy="86868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536192" y="3877056"/>
            <a:ext cx="2212847" cy="0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536192" y="387705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536192" y="1143000"/>
            <a:ext cx="0" cy="257860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6_x_ticklabel_0"/>
          <p:cNvSpPr txBox="1"/>
          <p:nvPr/>
        </p:nvSpPr>
        <p:spPr>
          <a:xfrm>
            <a:off x="1316736" y="394106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0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027935" y="387705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27935" y="1143000"/>
            <a:ext cx="0" cy="257860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6_x_ticklabel_1"/>
          <p:cNvSpPr txBox="1"/>
          <p:nvPr/>
        </p:nvSpPr>
        <p:spPr>
          <a:xfrm>
            <a:off x="1808479" y="394106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0.001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519680" y="387705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519680" y="1143000"/>
            <a:ext cx="0" cy="257860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6_x_ticklabel_2"/>
          <p:cNvSpPr txBox="1"/>
          <p:nvPr/>
        </p:nvSpPr>
        <p:spPr>
          <a:xfrm>
            <a:off x="2300224" y="394106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0.002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011424" y="387705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011424" y="1143000"/>
            <a:ext cx="0" cy="257860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6_x_ticklabel_3"/>
          <p:cNvSpPr txBox="1"/>
          <p:nvPr/>
        </p:nvSpPr>
        <p:spPr>
          <a:xfrm>
            <a:off x="2791968" y="394106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0.003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503168" y="387705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503168" y="1143000"/>
            <a:ext cx="0" cy="257860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6_x_ticklabel_4"/>
          <p:cNvSpPr txBox="1"/>
          <p:nvPr/>
        </p:nvSpPr>
        <p:spPr>
          <a:xfrm>
            <a:off x="3283712" y="394106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0.004</a:t>
            </a:r>
          </a:p>
        </p:txBody>
      </p:sp>
      <p:sp>
        <p:nvSpPr>
          <p:cNvPr id="83" name="F6_x_label"/>
          <p:cNvSpPr txBox="1"/>
          <p:nvPr/>
        </p:nvSpPr>
        <p:spPr>
          <a:xfrm>
            <a:off x="1536192" y="4133088"/>
            <a:ext cx="221284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Probability</a:t>
            </a:r>
          </a:p>
        </p:txBody>
      </p:sp>
      <p:sp>
        <p:nvSpPr>
          <p:cNvPr id="84" name="F6_pass_count"/>
          <p:cNvSpPr txBox="1"/>
          <p:nvPr/>
        </p:nvSpPr>
        <p:spPr>
          <a:xfrm>
            <a:off x="4279392" y="1051560"/>
            <a:ext cx="1042415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09E73"/>
                </a:solidFill>
                <a:latin typeface="Liberation Sans"/>
              </a:rPr>
              <a:t>12/12</a:t>
            </a:r>
          </a:p>
        </p:txBody>
      </p:sp>
      <p:sp>
        <p:nvSpPr>
          <p:cNvPr id="85" name="F6_pass_label"/>
          <p:cNvSpPr txBox="1"/>
          <p:nvPr/>
        </p:nvSpPr>
        <p:spPr>
          <a:xfrm>
            <a:off x="4279392" y="1481328"/>
            <a:ext cx="1042415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7365D"/>
                </a:solidFill>
                <a:latin typeface="Liberation Sans"/>
              </a:rPr>
              <a:t>cells passed</a:t>
            </a:r>
          </a:p>
        </p:txBody>
      </p:sp>
      <p:sp>
        <p:nvSpPr>
          <p:cNvPr id="86" name="F6_paths"/>
          <p:cNvSpPr/>
          <p:nvPr/>
        </p:nvSpPr>
        <p:spPr>
          <a:xfrm>
            <a:off x="4251960" y="1810512"/>
            <a:ext cx="1097280" cy="475488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36,000 paths
20 false certificates</a:t>
            </a:r>
          </a:p>
        </p:txBody>
      </p:sp>
      <p:sp>
        <p:nvSpPr>
          <p:cNvPr id="87" name="F6_worst"/>
          <p:cNvSpPr/>
          <p:nvPr/>
        </p:nvSpPr>
        <p:spPr>
          <a:xfrm>
            <a:off x="4242816" y="2404872"/>
            <a:ext cx="1115568" cy="54864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17365D"/>
                </a:solidFill>
                <a:latin typeface="Liberation Sans"/>
              </a:rPr>
              <a:t>Worst adjusted upper
0.004277 &lt; 0.065</a:t>
            </a:r>
          </a:p>
        </p:txBody>
      </p:sp>
      <p:sp>
        <p:nvSpPr>
          <p:cNvPr id="88" name="F6_gauge_label"/>
          <p:cNvSpPr txBox="1"/>
          <p:nvPr/>
        </p:nvSpPr>
        <p:spPr>
          <a:xfrm>
            <a:off x="4251960" y="305409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222222"/>
                </a:solidFill>
                <a:latin typeface="Liberation Sans"/>
              </a:rPr>
              <a:t>Fraction of frozen gate</a:t>
            </a:r>
          </a:p>
        </p:txBody>
      </p:sp>
      <p:sp>
        <p:nvSpPr>
          <p:cNvPr id="89" name="F6_gauge_bg"/>
          <p:cNvSpPr/>
          <p:nvPr/>
        </p:nvSpPr>
        <p:spPr>
          <a:xfrm>
            <a:off x="4315968" y="3328416"/>
            <a:ext cx="960120" cy="201168"/>
          </a:xfrm>
          <a:prstGeom prst="rect">
            <a:avLst/>
          </a:prstGeom>
          <a:solidFill>
            <a:srgbClr val="E6E9E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6_gauge_fill"/>
          <p:cNvSpPr/>
          <p:nvPr/>
        </p:nvSpPr>
        <p:spPr>
          <a:xfrm>
            <a:off x="4315968" y="3328416"/>
            <a:ext cx="64008" cy="201168"/>
          </a:xfrm>
          <a:prstGeom prst="rect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6_gauge_value"/>
          <p:cNvSpPr txBox="1"/>
          <p:nvPr/>
        </p:nvSpPr>
        <p:spPr>
          <a:xfrm>
            <a:off x="4270248" y="3575304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009E73"/>
                </a:solidFill>
                <a:latin typeface="Liberation Sans"/>
              </a:rPr>
              <a:t>6.58% of gate</a:t>
            </a:r>
          </a:p>
        </p:txBody>
      </p:sp>
      <p:sp>
        <p:nvSpPr>
          <p:cNvPr id="92" name="F6_boundary_note"/>
          <p:cNvSpPr txBox="1"/>
          <p:nvPr/>
        </p:nvSpPr>
        <p:spPr>
          <a:xfrm>
            <a:off x="4224528" y="3877056"/>
            <a:ext cx="1152144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Liberation Sans"/>
              </a:rPr>
              <a:t>Calibration supports implementation consistency;
it is not proof.</a:t>
            </a:r>
          </a:p>
        </p:txBody>
      </p:sp>
      <p:sp>
        <p:nvSpPr>
          <p:cNvPr id="93" name="F6_footer"/>
          <p:cNvSpPr txBox="1"/>
          <p:nvPr/>
        </p:nvSpPr>
        <p:spPr>
          <a:xfrm>
            <a:off x="329184" y="4407408"/>
            <a:ext cx="5010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All cells remain far below the pre-specified release gate; no continuity across heterogeneous cells is implied.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