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Primary application: cap-restricted stopping counts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400 paired replications; candidate-only and full-set answer maps remain scientifically distinct</a:t>
            </a:r>
          </a:p>
        </p:txBody>
      </p:sp>
      <p:sp>
        <p:nvSpPr>
          <p:cNvPr id="4" name="F4A_panel"/>
          <p:cNvSpPr/>
          <p:nvPr/>
        </p:nvSpPr>
        <p:spPr>
          <a:xfrm>
            <a:off x="228600" y="640080"/>
            <a:ext cx="331012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4A_label"/>
          <p:cNvSpPr/>
          <p:nvPr/>
        </p:nvSpPr>
        <p:spPr>
          <a:xfrm>
            <a:off x="320040" y="694944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6" name="F4A_title"/>
          <p:cNvSpPr txBox="1"/>
          <p:nvPr/>
        </p:nvSpPr>
        <p:spPr>
          <a:xfrm>
            <a:off x="612647" y="676656"/>
            <a:ext cx="285292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Candidate-only stopping-count distribution</a:t>
            </a:r>
          </a:p>
        </p:txBody>
      </p:sp>
      <p:sp>
        <p:nvSpPr>
          <p:cNvPr id="7" name="F4B_panel"/>
          <p:cNvSpPr/>
          <p:nvPr/>
        </p:nvSpPr>
        <p:spPr>
          <a:xfrm>
            <a:off x="3639312" y="640080"/>
            <a:ext cx="180136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4B_label"/>
          <p:cNvSpPr/>
          <p:nvPr/>
        </p:nvSpPr>
        <p:spPr>
          <a:xfrm>
            <a:off x="3730752" y="694944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9" name="F4B_title"/>
          <p:cNvSpPr txBox="1"/>
          <p:nvPr/>
        </p:nvSpPr>
        <p:spPr>
          <a:xfrm>
            <a:off x="4023360" y="676656"/>
            <a:ext cx="134416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Completion at the common cap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1170432"/>
            <a:ext cx="0" cy="1517904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6928" y="2688336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" y="2688336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4A_y_ticklabel_0"/>
          <p:cNvSpPr txBox="1"/>
          <p:nvPr/>
        </p:nvSpPr>
        <p:spPr>
          <a:xfrm>
            <a:off x="146304" y="2578608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384755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" y="2384755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F4A_y_ticklabel_1"/>
          <p:cNvSpPr txBox="1"/>
          <p:nvPr/>
        </p:nvSpPr>
        <p:spPr>
          <a:xfrm>
            <a:off x="146304" y="2275027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081174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" y="2081174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4A_y_ticklabel_2"/>
          <p:cNvSpPr txBox="1"/>
          <p:nvPr/>
        </p:nvSpPr>
        <p:spPr>
          <a:xfrm>
            <a:off x="146304" y="1971446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100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1777593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21792" y="1777593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4A_y_ticklabel_3"/>
          <p:cNvSpPr txBox="1"/>
          <p:nvPr/>
        </p:nvSpPr>
        <p:spPr>
          <a:xfrm>
            <a:off x="146304" y="1667865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1474012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1792" y="1474012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4A_y_ticklabel_4"/>
          <p:cNvSpPr txBox="1"/>
          <p:nvPr/>
        </p:nvSpPr>
        <p:spPr>
          <a:xfrm>
            <a:off x="146304" y="1364284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200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1170432"/>
            <a:ext cx="54864" cy="0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21792" y="1170432"/>
            <a:ext cx="2615184" cy="0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4A_y_ticklabel_5"/>
          <p:cNvSpPr txBox="1"/>
          <p:nvPr/>
        </p:nvSpPr>
        <p:spPr>
          <a:xfrm>
            <a:off x="146304" y="1060704"/>
            <a:ext cx="393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50" b="0" i="0">
                <a:solidFill>
                  <a:srgbClr val="222222"/>
                </a:solidFill>
                <a:latin typeface="Liberation Sans"/>
              </a:rPr>
              <a:t>250</a:t>
            </a:r>
          </a:p>
        </p:txBody>
      </p:sp>
      <p:sp>
        <p:nvSpPr>
          <p:cNvPr id="29" name="F4A_y_title"/>
          <p:cNvSpPr txBox="1"/>
          <p:nvPr/>
        </p:nvSpPr>
        <p:spPr>
          <a:xfrm>
            <a:off x="475488" y="97840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222222"/>
                </a:solidFill>
                <a:latin typeface="Liberation Sans"/>
              </a:rPr>
              <a:t>Replications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" y="2688336"/>
            <a:ext cx="2615184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21792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4A_x_ticklabel_0"/>
          <p:cNvSpPr txBox="1"/>
          <p:nvPr/>
        </p:nvSpPr>
        <p:spPr>
          <a:xfrm>
            <a:off x="402336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7656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4A_x_ticklabel_1"/>
          <p:cNvSpPr txBox="1"/>
          <p:nvPr/>
        </p:nvSpPr>
        <p:spPr>
          <a:xfrm>
            <a:off x="838200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60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493520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4A_x_ticklabel_2"/>
          <p:cNvSpPr txBox="1"/>
          <p:nvPr/>
        </p:nvSpPr>
        <p:spPr>
          <a:xfrm>
            <a:off x="1274064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29384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4A_x_ticklabel_3"/>
          <p:cNvSpPr txBox="1"/>
          <p:nvPr/>
        </p:nvSpPr>
        <p:spPr>
          <a:xfrm>
            <a:off x="1709928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140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365248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4A_x_ticklabel_4"/>
          <p:cNvSpPr txBox="1"/>
          <p:nvPr/>
        </p:nvSpPr>
        <p:spPr>
          <a:xfrm>
            <a:off x="2145792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180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01112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4A_x_ticklabel_5"/>
          <p:cNvSpPr txBox="1"/>
          <p:nvPr/>
        </p:nvSpPr>
        <p:spPr>
          <a:xfrm>
            <a:off x="2581656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220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236976" y="2688336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4A_x_ticklabel_6"/>
          <p:cNvSpPr txBox="1"/>
          <p:nvPr/>
        </p:nvSpPr>
        <p:spPr>
          <a:xfrm>
            <a:off x="3017520" y="2752344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260</a:t>
            </a:r>
          </a:p>
        </p:txBody>
      </p:sp>
      <p:sp>
        <p:nvSpPr>
          <p:cNvPr id="45" name="F4A_x_label"/>
          <p:cNvSpPr txBox="1"/>
          <p:nvPr/>
        </p:nvSpPr>
        <p:spPr>
          <a:xfrm>
            <a:off x="621792" y="2944368"/>
            <a:ext cx="2615184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Candidate-only stopping count (values &lt;= 250)</a:t>
            </a:r>
          </a:p>
        </p:txBody>
      </p:sp>
      <p:sp>
        <p:nvSpPr>
          <p:cNvPr id="46" name="F4_hist_20_40"/>
          <p:cNvSpPr/>
          <p:nvPr/>
        </p:nvSpPr>
        <p:spPr>
          <a:xfrm>
            <a:off x="630936" y="2500115"/>
            <a:ext cx="199643" cy="188220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4_hist_40_60"/>
          <p:cNvSpPr/>
          <p:nvPr/>
        </p:nvSpPr>
        <p:spPr>
          <a:xfrm>
            <a:off x="848868" y="1231148"/>
            <a:ext cx="199644" cy="1457187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4_hist_60_80"/>
          <p:cNvSpPr/>
          <p:nvPr/>
        </p:nvSpPr>
        <p:spPr>
          <a:xfrm>
            <a:off x="1066800" y="2190463"/>
            <a:ext cx="199643" cy="497872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4_hist_80_100"/>
          <p:cNvSpPr/>
          <p:nvPr/>
        </p:nvSpPr>
        <p:spPr>
          <a:xfrm>
            <a:off x="1284732" y="2651906"/>
            <a:ext cx="199643" cy="36429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4_hist_100_120"/>
          <p:cNvSpPr/>
          <p:nvPr/>
        </p:nvSpPr>
        <p:spPr>
          <a:xfrm>
            <a:off x="1502664" y="2664049"/>
            <a:ext cx="199643" cy="24286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4_hist_120_140"/>
          <p:cNvSpPr/>
          <p:nvPr/>
        </p:nvSpPr>
        <p:spPr>
          <a:xfrm>
            <a:off x="1720596" y="2664049"/>
            <a:ext cx="199644" cy="24286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4_hist_140_160"/>
          <p:cNvSpPr/>
          <p:nvPr/>
        </p:nvSpPr>
        <p:spPr>
          <a:xfrm>
            <a:off x="1938527" y="2621548"/>
            <a:ext cx="199644" cy="66787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4_hist_160_180"/>
          <p:cNvSpPr/>
          <p:nvPr/>
        </p:nvSpPr>
        <p:spPr>
          <a:xfrm>
            <a:off x="2156460" y="2633691"/>
            <a:ext cx="199643" cy="54644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4_hist_180_200"/>
          <p:cNvSpPr/>
          <p:nvPr/>
        </p:nvSpPr>
        <p:spPr>
          <a:xfrm>
            <a:off x="2374391" y="2670121"/>
            <a:ext cx="199644" cy="18214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4_hist_200_220"/>
          <p:cNvSpPr/>
          <p:nvPr/>
        </p:nvSpPr>
        <p:spPr>
          <a:xfrm>
            <a:off x="2592324" y="2682264"/>
            <a:ext cx="199644" cy="6071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4_hist_220_240"/>
          <p:cNvSpPr/>
          <p:nvPr/>
        </p:nvSpPr>
        <p:spPr>
          <a:xfrm>
            <a:off x="2810256" y="2670121"/>
            <a:ext cx="199644" cy="18214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4_hist_240_260"/>
          <p:cNvSpPr/>
          <p:nvPr/>
        </p:nvSpPr>
        <p:spPr>
          <a:xfrm>
            <a:off x="3028188" y="2688336"/>
            <a:ext cx="199644" cy="0"/>
          </a:xfrm>
          <a:prstGeom prst="rect">
            <a:avLst/>
          </a:prstGeom>
          <a:solidFill>
            <a:srgbClr val="0072B2"/>
          </a:solidFill>
          <a:ln w="508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035862" y="1170432"/>
            <a:ext cx="0" cy="1517904"/>
          </a:xfrm>
          <a:prstGeom prst="line">
            <a:avLst/>
          </a:prstGeom>
          <a:ln w="19050">
            <a:solidFill>
              <a:srgbClr val="D55E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4_median_label"/>
          <p:cNvSpPr txBox="1"/>
          <p:nvPr/>
        </p:nvSpPr>
        <p:spPr>
          <a:xfrm>
            <a:off x="1072438" y="121615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D55E00"/>
                </a:solidFill>
                <a:latin typeface="Liberation Sans"/>
              </a:rPr>
              <a:t>Median 58</a:t>
            </a:r>
          </a:p>
        </p:txBody>
      </p:sp>
      <p:sp>
        <p:nvSpPr>
          <p:cNvPr id="60" name="F4_outlier_header"/>
          <p:cNvSpPr txBox="1"/>
          <p:nvPr/>
        </p:nvSpPr>
        <p:spPr>
          <a:xfrm>
            <a:off x="566928" y="316382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666666"/>
                </a:solidFill>
                <a:latin typeface="Liberation Sans"/>
              </a:rPr>
              <a:t>Six larger values (listed, not to scale)</a:t>
            </a:r>
          </a:p>
        </p:txBody>
      </p:sp>
      <p:sp>
        <p:nvSpPr>
          <p:cNvPr id="61" name="F4_outlier_0"/>
          <p:cNvSpPr/>
          <p:nvPr/>
        </p:nvSpPr>
        <p:spPr>
          <a:xfrm>
            <a:off x="640080" y="3410712"/>
            <a:ext cx="438912" cy="34747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293</a:t>
            </a:r>
          </a:p>
        </p:txBody>
      </p:sp>
      <p:sp>
        <p:nvSpPr>
          <p:cNvPr id="62" name="F4_outlier_1"/>
          <p:cNvSpPr/>
          <p:nvPr/>
        </p:nvSpPr>
        <p:spPr>
          <a:xfrm>
            <a:off x="1143000" y="3410712"/>
            <a:ext cx="438912" cy="34747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333</a:t>
            </a:r>
          </a:p>
        </p:txBody>
      </p:sp>
      <p:sp>
        <p:nvSpPr>
          <p:cNvPr id="63" name="F4_outlier_2"/>
          <p:cNvSpPr/>
          <p:nvPr/>
        </p:nvSpPr>
        <p:spPr>
          <a:xfrm>
            <a:off x="1645920" y="3410712"/>
            <a:ext cx="438912" cy="34747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343</a:t>
            </a:r>
          </a:p>
        </p:txBody>
      </p:sp>
      <p:sp>
        <p:nvSpPr>
          <p:cNvPr id="64" name="F4_outlier_3"/>
          <p:cNvSpPr/>
          <p:nvPr/>
        </p:nvSpPr>
        <p:spPr>
          <a:xfrm>
            <a:off x="2194560" y="3410712"/>
            <a:ext cx="438912" cy="34747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1,303</a:t>
            </a:r>
          </a:p>
        </p:txBody>
      </p:sp>
      <p:sp>
        <p:nvSpPr>
          <p:cNvPr id="65" name="F4_outlier_4"/>
          <p:cNvSpPr/>
          <p:nvPr/>
        </p:nvSpPr>
        <p:spPr>
          <a:xfrm>
            <a:off x="2688336" y="3410712"/>
            <a:ext cx="658368" cy="347472"/>
          </a:xfrm>
          <a:prstGeom prst="roundRect">
            <a:avLst/>
          </a:prstGeom>
          <a:solidFill>
            <a:srgbClr val="EAF1F8"/>
          </a:solidFill>
          <a:ln w="889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17365D"/>
                </a:solidFill>
                <a:latin typeface="Liberation Sans"/>
              </a:rPr>
              <a:t>2,000 (2)</a:t>
            </a:r>
          </a:p>
        </p:txBody>
      </p:sp>
      <p:sp>
        <p:nvSpPr>
          <p:cNvPr id="66" name="F4_hist_note"/>
          <p:cNvSpPr txBox="1"/>
          <p:nvPr/>
        </p:nvSpPr>
        <p:spPr>
          <a:xfrm>
            <a:off x="566928" y="3858768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Liberation Sans"/>
              </a:rPr>
              <a:t>394/400 counts are at or below 250.</a:t>
            </a:r>
          </a:p>
        </p:txBody>
      </p:sp>
      <p:sp>
        <p:nvSpPr>
          <p:cNvPr id="67" name="F4_candidate_header"/>
          <p:cNvSpPr txBox="1"/>
          <p:nvPr/>
        </p:nvSpPr>
        <p:spPr>
          <a:xfrm>
            <a:off x="3822191" y="114300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7365D"/>
                </a:solidFill>
                <a:latin typeface="Liberation Sans"/>
              </a:rPr>
              <a:t>Candidate-only</a:t>
            </a:r>
          </a:p>
        </p:txBody>
      </p:sp>
      <p:sp>
        <p:nvSpPr>
          <p:cNvPr id="68" name="F4_candidate_bar_bg"/>
          <p:cNvSpPr/>
          <p:nvPr/>
        </p:nvSpPr>
        <p:spPr>
          <a:xfrm>
            <a:off x="3886200" y="1490472"/>
            <a:ext cx="1289304" cy="274320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4_candidate_complete_bar"/>
          <p:cNvSpPr/>
          <p:nvPr/>
        </p:nvSpPr>
        <p:spPr>
          <a:xfrm>
            <a:off x="3886200" y="1490472"/>
            <a:ext cx="1282903" cy="274320"/>
          </a:xfrm>
          <a:prstGeom prst="rect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5166360" y="1444752"/>
            <a:ext cx="0" cy="365760"/>
          </a:xfrm>
          <a:prstGeom prst="line">
            <a:avLst/>
          </a:prstGeom>
          <a:ln w="2794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4_candidate_status"/>
          <p:cNvSpPr txBox="1"/>
          <p:nvPr/>
        </p:nvSpPr>
        <p:spPr>
          <a:xfrm>
            <a:off x="3785615" y="1847088"/>
            <a:ext cx="1481328" cy="47548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398/400 completed (99.5%)
2 were censored at 2,000</a:t>
            </a:r>
          </a:p>
        </p:txBody>
      </p:sp>
      <p:sp>
        <p:nvSpPr>
          <p:cNvPr id="72" name="F4_candidate_median"/>
          <p:cNvSpPr/>
          <p:nvPr/>
        </p:nvSpPr>
        <p:spPr>
          <a:xfrm>
            <a:off x="3867912" y="2304288"/>
            <a:ext cx="1325880" cy="310896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0072B2"/>
                </a:solidFill>
                <a:latin typeface="Liberation Sans"/>
              </a:rPr>
              <a:t>Median: 58</a:t>
            </a:r>
          </a:p>
        </p:txBody>
      </p:sp>
      <p:sp>
        <p:nvSpPr>
          <p:cNvPr id="73" name="F4_full_header"/>
          <p:cNvSpPr txBox="1"/>
          <p:nvPr/>
        </p:nvSpPr>
        <p:spPr>
          <a:xfrm>
            <a:off x="3822191" y="272491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17365D"/>
                </a:solidFill>
                <a:latin typeface="Liberation Sans"/>
              </a:rPr>
              <a:t>Full-set coordinate</a:t>
            </a:r>
          </a:p>
        </p:txBody>
      </p:sp>
      <p:sp>
        <p:nvSpPr>
          <p:cNvPr id="74" name="F4_full_cap_bar"/>
          <p:cNvSpPr/>
          <p:nvPr/>
        </p:nvSpPr>
        <p:spPr>
          <a:xfrm>
            <a:off x="3886200" y="3063240"/>
            <a:ext cx="1289304" cy="274320"/>
          </a:xfrm>
          <a:prstGeom prst="rect">
            <a:avLst/>
          </a:prstGeom>
          <a:solidFill>
            <a:srgbClr val="D55E00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4_full_status"/>
          <p:cNvSpPr txBox="1"/>
          <p:nvPr/>
        </p:nvSpPr>
        <p:spPr>
          <a:xfrm>
            <a:off x="3785615" y="3419856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0/400 completed
400 reached the common cap</a:t>
            </a:r>
          </a:p>
        </p:txBody>
      </p:sp>
      <p:sp>
        <p:nvSpPr>
          <p:cNvPr id="76" name="F4_full_median"/>
          <p:cNvSpPr/>
          <p:nvPr/>
        </p:nvSpPr>
        <p:spPr>
          <a:xfrm>
            <a:off x="3867912" y="3831336"/>
            <a:ext cx="1325880" cy="310896"/>
          </a:xfrm>
          <a:prstGeom prst="roundRect">
            <a:avLst/>
          </a:prstGeom>
          <a:solidFill>
            <a:srgbClr val="FCE4D6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D55E00"/>
                </a:solidFill>
                <a:latin typeface="Liberation Sans"/>
              </a:rPr>
              <a:t>Median: 2,000</a:t>
            </a:r>
          </a:p>
        </p:txBody>
      </p:sp>
      <p:sp>
        <p:nvSpPr>
          <p:cNvPr id="77" name="F4_footer"/>
          <p:cNvSpPr/>
          <p:nvPr/>
        </p:nvSpPr>
        <p:spPr>
          <a:xfrm>
            <a:off x="347472" y="4297680"/>
            <a:ext cx="4956048" cy="320040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Mean paired cap-restricted difference: 1,921.54 scenarios (bootstrap 95% interval 1,904.37-1,934.64).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