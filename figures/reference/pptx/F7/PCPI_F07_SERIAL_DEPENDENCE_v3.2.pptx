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669280" cy="4754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gure_title"/>
          <p:cNvSpPr txBox="1"/>
          <p:nvPr/>
        </p:nvSpPr>
        <p:spPr>
          <a:xfrm>
            <a:off x="228600" y="91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7365D"/>
                </a:solidFill>
                <a:latin typeface="Liberation Sans"/>
              </a:rPr>
              <a:t>Serial-dependence failure boundary</a:t>
            </a:r>
          </a:p>
        </p:txBody>
      </p:sp>
      <p:sp>
        <p:nvSpPr>
          <p:cNvPr id="3" name="figure_subtitle"/>
          <p:cNvSpPr txBox="1"/>
          <p:nvPr/>
        </p:nvSpPr>
        <p:spPr>
          <a:xfrm>
            <a:off x="320040" y="36576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  <a:latin typeface="Liberation Sans"/>
              </a:rPr>
              <a:t>Discrete stress conditions; points are rates and whiskers are one-sided 95% upper bounds</a:t>
            </a:r>
          </a:p>
        </p:txBody>
      </p:sp>
      <p:sp>
        <p:nvSpPr>
          <p:cNvPr id="4" name="F7_leg_coordinate_marker"/>
          <p:cNvSpPr/>
          <p:nvPr/>
        </p:nvSpPr>
        <p:spPr>
          <a:xfrm>
            <a:off x="1138428" y="608075"/>
            <a:ext cx="100584" cy="100584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7_leg_coordinate_text"/>
          <p:cNvSpPr txBox="1"/>
          <p:nvPr/>
        </p:nvSpPr>
        <p:spPr>
          <a:xfrm>
            <a:off x="1280160" y="548640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Liberation Sans"/>
              </a:rPr>
              <a:t>Coordinate</a:t>
            </a:r>
          </a:p>
        </p:txBody>
      </p:sp>
      <p:sp>
        <p:nvSpPr>
          <p:cNvPr id="6" name="F7_leg_hotelling_marker"/>
          <p:cNvSpPr/>
          <p:nvPr/>
        </p:nvSpPr>
        <p:spPr>
          <a:xfrm>
            <a:off x="2372868" y="608075"/>
            <a:ext cx="100584" cy="100584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7_leg_hotelling_text"/>
          <p:cNvSpPr txBox="1"/>
          <p:nvPr/>
        </p:nvSpPr>
        <p:spPr>
          <a:xfrm>
            <a:off x="2514600" y="548640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Liberation Sans"/>
              </a:rPr>
              <a:t>Hotelling</a:t>
            </a:r>
          </a:p>
        </p:txBody>
      </p:sp>
      <p:sp>
        <p:nvSpPr>
          <p:cNvPr id="8" name="F7_leg_hybrid_marker"/>
          <p:cNvSpPr/>
          <p:nvPr/>
        </p:nvSpPr>
        <p:spPr>
          <a:xfrm>
            <a:off x="3607308" y="608075"/>
            <a:ext cx="100584" cy="100584"/>
          </a:xfrm>
          <a:prstGeom prst="diamond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7_leg_hybrid_text"/>
          <p:cNvSpPr txBox="1"/>
          <p:nvPr/>
        </p:nvSpPr>
        <p:spPr>
          <a:xfrm>
            <a:off x="3749039" y="548640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Liberation Sans"/>
              </a:rPr>
              <a:t>Hybrid</a:t>
            </a:r>
          </a:p>
        </p:txBody>
      </p:sp>
      <p:sp>
        <p:nvSpPr>
          <p:cNvPr id="10" name="F7A_panel"/>
          <p:cNvSpPr/>
          <p:nvPr/>
        </p:nvSpPr>
        <p:spPr>
          <a:xfrm>
            <a:off x="182880" y="868680"/>
            <a:ext cx="2670048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7A_label"/>
          <p:cNvSpPr/>
          <p:nvPr/>
        </p:nvSpPr>
        <p:spPr>
          <a:xfrm>
            <a:off x="274320" y="923544"/>
            <a:ext cx="256032" cy="228600"/>
          </a:xfrm>
          <a:prstGeom prst="roundRect">
            <a:avLst/>
          </a:prstGeom>
          <a:solidFill>
            <a:srgbClr val="17365D"/>
          </a:solidFill>
          <a:ln w="1016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Liberation Sans"/>
              </a:rPr>
              <a:t>A</a:t>
            </a:r>
          </a:p>
        </p:txBody>
      </p:sp>
      <p:sp>
        <p:nvSpPr>
          <p:cNvPr id="12" name="F7A_title"/>
          <p:cNvSpPr txBox="1"/>
          <p:nvPr/>
        </p:nvSpPr>
        <p:spPr>
          <a:xfrm>
            <a:off x="566928" y="905256"/>
            <a:ext cx="22128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7365D"/>
                </a:solidFill>
                <a:latin typeface="Liberation Sans"/>
              </a:rPr>
              <a:t>Within or near the nominal threshold</a:t>
            </a:r>
          </a:p>
        </p:txBody>
      </p:sp>
      <p:sp>
        <p:nvSpPr>
          <p:cNvPr id="13" name="F7B_panel"/>
          <p:cNvSpPr/>
          <p:nvPr/>
        </p:nvSpPr>
        <p:spPr>
          <a:xfrm>
            <a:off x="2962656" y="868680"/>
            <a:ext cx="2523744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7B_label"/>
          <p:cNvSpPr/>
          <p:nvPr/>
        </p:nvSpPr>
        <p:spPr>
          <a:xfrm>
            <a:off x="3054096" y="923544"/>
            <a:ext cx="256032" cy="228600"/>
          </a:xfrm>
          <a:prstGeom prst="roundRect">
            <a:avLst/>
          </a:prstGeom>
          <a:solidFill>
            <a:srgbClr val="17365D"/>
          </a:solidFill>
          <a:ln w="1016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Liberation Sans"/>
              </a:rPr>
              <a:t>B</a:t>
            </a:r>
          </a:p>
        </p:txBody>
      </p:sp>
      <p:sp>
        <p:nvSpPr>
          <p:cNvPr id="15" name="F7B_title"/>
          <p:cNvSpPr txBox="1"/>
          <p:nvPr/>
        </p:nvSpPr>
        <p:spPr>
          <a:xfrm>
            <a:off x="3346704" y="905256"/>
            <a:ext cx="2066543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7365D"/>
                </a:solidFill>
                <a:latin typeface="Liberation Sans"/>
              </a:rPr>
              <a:t>Strong dependence: validity fails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1371600"/>
            <a:ext cx="0" cy="2212848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3" y="3584448"/>
            <a:ext cx="54865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" y="3584448"/>
            <a:ext cx="2029968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7A_y_ticklabel_0"/>
          <p:cNvSpPr txBox="1"/>
          <p:nvPr/>
        </p:nvSpPr>
        <p:spPr>
          <a:xfrm>
            <a:off x="182879" y="3474720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0%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3" y="2846832"/>
            <a:ext cx="54865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8368" y="2846832"/>
            <a:ext cx="2029968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7A_y_ticklabel_1"/>
          <p:cNvSpPr txBox="1"/>
          <p:nvPr/>
        </p:nvSpPr>
        <p:spPr>
          <a:xfrm>
            <a:off x="182879" y="2737104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3" y="2109216"/>
            <a:ext cx="54865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" y="2109216"/>
            <a:ext cx="2029968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7A_y_ticklabel_2"/>
          <p:cNvSpPr txBox="1"/>
          <p:nvPr/>
        </p:nvSpPr>
        <p:spPr>
          <a:xfrm>
            <a:off x="182879" y="1999487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4%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3503" y="1371600"/>
            <a:ext cx="54865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8368" y="1371600"/>
            <a:ext cx="2029968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7A_y_ticklabel_3"/>
          <p:cNvSpPr txBox="1"/>
          <p:nvPr/>
        </p:nvSpPr>
        <p:spPr>
          <a:xfrm>
            <a:off x="182879" y="1261872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6%</a:t>
            </a:r>
          </a:p>
        </p:txBody>
      </p:sp>
      <p:sp>
        <p:nvSpPr>
          <p:cNvPr id="29" name="F7_y_title"/>
          <p:cNvSpPr txBox="1"/>
          <p:nvPr/>
        </p:nvSpPr>
        <p:spPr>
          <a:xfrm>
            <a:off x="658368" y="112471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222222"/>
                </a:solidFill>
                <a:latin typeface="Liberation Sans"/>
              </a:rPr>
              <a:t>False-certification rate</a:t>
            </a:r>
          </a:p>
        </p:txBody>
      </p:sp>
      <p:sp>
        <p:nvSpPr>
          <p:cNvPr id="30" name="F7A_xlabel_ROB-00"/>
          <p:cNvSpPr txBox="1"/>
          <p:nvPr/>
        </p:nvSpPr>
        <p:spPr>
          <a:xfrm>
            <a:off x="804672" y="365760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222222"/>
                </a:solidFill>
                <a:latin typeface="Liberation Sans"/>
              </a:rPr>
              <a:t>iid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5840" y="3474128"/>
            <a:ext cx="0" cy="110320"/>
          </a:xfrm>
          <a:prstGeom prst="line">
            <a:avLst/>
          </a:prstGeom>
          <a:ln w="1587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0120" y="3474128"/>
            <a:ext cx="91440" cy="0"/>
          </a:xfrm>
          <a:prstGeom prst="line">
            <a:avLst/>
          </a:prstGeom>
          <a:ln w="14604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7_ROB-00_coordinate_rate"/>
          <p:cNvSpPr/>
          <p:nvPr/>
        </p:nvSpPr>
        <p:spPr>
          <a:xfrm>
            <a:off x="950976" y="3529584"/>
            <a:ext cx="109728" cy="10972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170432" y="3474128"/>
            <a:ext cx="0" cy="110320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24712" y="3474128"/>
            <a:ext cx="91440" cy="0"/>
          </a:xfrm>
          <a:prstGeom prst="line">
            <a:avLst/>
          </a:prstGeom>
          <a:ln w="14604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7_ROB-00_hotelling_rate"/>
          <p:cNvSpPr/>
          <p:nvPr/>
        </p:nvSpPr>
        <p:spPr>
          <a:xfrm>
            <a:off x="1115568" y="3529584"/>
            <a:ext cx="109728" cy="10972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1335024" y="3409817"/>
            <a:ext cx="0" cy="137750"/>
          </a:xfrm>
          <a:prstGeom prst="line">
            <a:avLst/>
          </a:prstGeom>
          <a:ln w="15875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89304" y="3409817"/>
            <a:ext cx="91440" cy="0"/>
          </a:xfrm>
          <a:prstGeom prst="line">
            <a:avLst/>
          </a:prstGeom>
          <a:ln w="14604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7_ROB-00_hybrid_rate"/>
          <p:cNvSpPr/>
          <p:nvPr/>
        </p:nvSpPr>
        <p:spPr>
          <a:xfrm>
            <a:off x="1280160" y="3492703"/>
            <a:ext cx="109728" cy="109728"/>
          </a:xfrm>
          <a:prstGeom prst="diamond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7_iid_rate_note"/>
          <p:cNvSpPr txBox="1"/>
          <p:nvPr/>
        </p:nvSpPr>
        <p:spPr>
          <a:xfrm>
            <a:off x="749808" y="3054096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  <a:latin typeface="Liberation Sans"/>
              </a:rPr>
              <a:t>iid rates
0.0 / 0.0 / 0.1%</a:t>
            </a:r>
          </a:p>
        </p:txBody>
      </p:sp>
      <p:sp>
        <p:nvSpPr>
          <p:cNvPr id="41" name="F7A_xlabel_ROB-05"/>
          <p:cNvSpPr txBox="1"/>
          <p:nvPr/>
        </p:nvSpPr>
        <p:spPr>
          <a:xfrm>
            <a:off x="1810512" y="365760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222222"/>
                </a:solidFill>
                <a:latin typeface="Liberation Sans"/>
              </a:rPr>
              <a:t>AR(1)
rho=0.3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11679" y="2431309"/>
            <a:ext cx="0" cy="341761"/>
          </a:xfrm>
          <a:prstGeom prst="line">
            <a:avLst/>
          </a:prstGeom>
          <a:ln w="1587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965960" y="2431309"/>
            <a:ext cx="91439" cy="0"/>
          </a:xfrm>
          <a:prstGeom prst="line">
            <a:avLst/>
          </a:prstGeom>
          <a:ln w="14604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7_ROB-05_coordinate_rate"/>
          <p:cNvSpPr/>
          <p:nvPr/>
        </p:nvSpPr>
        <p:spPr>
          <a:xfrm>
            <a:off x="1956815" y="2718206"/>
            <a:ext cx="109728" cy="10972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7_ROB-05_coordinate_label"/>
          <p:cNvSpPr txBox="1"/>
          <p:nvPr/>
        </p:nvSpPr>
        <p:spPr>
          <a:xfrm>
            <a:off x="1810000" y="246500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0072B2"/>
                </a:solidFill>
                <a:latin typeface="Liberation Sans"/>
              </a:rPr>
              <a:t>2.2%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176272" y="2780441"/>
            <a:ext cx="0" cy="287675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130552" y="2780441"/>
            <a:ext cx="91439" cy="0"/>
          </a:xfrm>
          <a:prstGeom prst="line">
            <a:avLst/>
          </a:prstGeom>
          <a:ln w="14604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7_ROB-05_hotelling_rate"/>
          <p:cNvSpPr/>
          <p:nvPr/>
        </p:nvSpPr>
        <p:spPr>
          <a:xfrm>
            <a:off x="2121408" y="3013252"/>
            <a:ext cx="109728" cy="10972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7_ROB-05_hotelling_label"/>
          <p:cNvSpPr txBox="1"/>
          <p:nvPr/>
        </p:nvSpPr>
        <p:spPr>
          <a:xfrm>
            <a:off x="1965000" y="320500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E69F00"/>
                </a:solidFill>
                <a:latin typeface="Liberation Sans"/>
              </a:rPr>
              <a:t>1.4%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340864" y="2517481"/>
            <a:ext cx="0" cy="329351"/>
          </a:xfrm>
          <a:prstGeom prst="line">
            <a:avLst/>
          </a:prstGeom>
          <a:ln w="15875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295144" y="2517481"/>
            <a:ext cx="91440" cy="0"/>
          </a:xfrm>
          <a:prstGeom prst="line">
            <a:avLst/>
          </a:prstGeom>
          <a:ln w="14604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7_ROB-05_hybrid_rate"/>
          <p:cNvSpPr/>
          <p:nvPr/>
        </p:nvSpPr>
        <p:spPr>
          <a:xfrm>
            <a:off x="2286000" y="2791968"/>
            <a:ext cx="109728" cy="109728"/>
          </a:xfrm>
          <a:prstGeom prst="diamond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7_ROB-05_hybrid_label"/>
          <p:cNvSpPr txBox="1"/>
          <p:nvPr/>
        </p:nvSpPr>
        <p:spPr>
          <a:xfrm>
            <a:off x="2295000" y="252000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009E73"/>
                </a:solidFill>
                <a:latin typeface="Liberation Sans"/>
              </a:rPr>
              <a:t>2.0%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58368" y="1740408"/>
            <a:ext cx="2029968" cy="0"/>
          </a:xfrm>
          <a:prstGeom prst="line">
            <a:avLst/>
          </a:prstGeom>
          <a:ln w="13970">
            <a:solidFill>
              <a:srgbClr val="D55E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7A_nominal_label"/>
          <p:cNvSpPr txBox="1"/>
          <p:nvPr/>
        </p:nvSpPr>
        <p:spPr>
          <a:xfrm>
            <a:off x="1874519" y="152095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D55E00"/>
                </a:solidFill>
                <a:latin typeface="Liberation Sans"/>
              </a:rPr>
              <a:t>nominal 5%</a:t>
            </a:r>
          </a:p>
        </p:txBody>
      </p:sp>
      <p:sp>
        <p:nvSpPr>
          <p:cNvPr id="56" name="F7B_failure_region"/>
          <p:cNvSpPr/>
          <p:nvPr/>
        </p:nvSpPr>
        <p:spPr>
          <a:xfrm>
            <a:off x="3401568" y="1371600"/>
            <a:ext cx="1865376" cy="1896726"/>
          </a:xfrm>
          <a:prstGeom prst="rect">
            <a:avLst/>
          </a:prstGeom>
          <a:solidFill>
            <a:srgbClr val="FF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3401568" y="1371600"/>
            <a:ext cx="0" cy="2212848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346704" y="3584448"/>
            <a:ext cx="54864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401568" y="3584448"/>
            <a:ext cx="1865376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7B_y_ticklabel_0"/>
          <p:cNvSpPr txBox="1"/>
          <p:nvPr/>
        </p:nvSpPr>
        <p:spPr>
          <a:xfrm>
            <a:off x="2926080" y="3474720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0%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346704" y="2952205"/>
            <a:ext cx="54864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401568" y="2952205"/>
            <a:ext cx="1865376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7B_y_ticklabel_1"/>
          <p:cNvSpPr txBox="1"/>
          <p:nvPr/>
        </p:nvSpPr>
        <p:spPr>
          <a:xfrm>
            <a:off x="2926080" y="2842477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10%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346704" y="2319963"/>
            <a:ext cx="54864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401568" y="2319963"/>
            <a:ext cx="1865376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7B_y_ticklabel_2"/>
          <p:cNvSpPr txBox="1"/>
          <p:nvPr/>
        </p:nvSpPr>
        <p:spPr>
          <a:xfrm>
            <a:off x="2926080" y="2210235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20%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346704" y="1687721"/>
            <a:ext cx="54864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401568" y="1687721"/>
            <a:ext cx="1865376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7B_y_ticklabel_3"/>
          <p:cNvSpPr txBox="1"/>
          <p:nvPr/>
        </p:nvSpPr>
        <p:spPr>
          <a:xfrm>
            <a:off x="2926080" y="1577993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30%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346704" y="1371600"/>
            <a:ext cx="54864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401568" y="1371600"/>
            <a:ext cx="1865376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7B_y_ticklabel_4"/>
          <p:cNvSpPr txBox="1"/>
          <p:nvPr/>
        </p:nvSpPr>
        <p:spPr>
          <a:xfrm>
            <a:off x="2926080" y="1261872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35%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169664" y="1492523"/>
            <a:ext cx="0" cy="157263"/>
          </a:xfrm>
          <a:prstGeom prst="line">
            <a:avLst/>
          </a:prstGeom>
          <a:ln w="1587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123944" y="1492523"/>
            <a:ext cx="91440" cy="0"/>
          </a:xfrm>
          <a:prstGeom prst="line">
            <a:avLst/>
          </a:prstGeom>
          <a:ln w="14604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7_ROB06_coordinate_rate"/>
          <p:cNvSpPr/>
          <p:nvPr/>
        </p:nvSpPr>
        <p:spPr>
          <a:xfrm>
            <a:off x="4114800" y="1594922"/>
            <a:ext cx="109728" cy="10972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7_ROB06_coordinate_label"/>
          <p:cNvSpPr txBox="1"/>
          <p:nvPr/>
        </p:nvSpPr>
        <p:spPr>
          <a:xfrm>
            <a:off x="3905000" y="136500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0072B2"/>
                </a:solidFill>
                <a:latin typeface="Liberation Sans"/>
              </a:rPr>
              <a:t>30.6%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334256" y="1965539"/>
            <a:ext cx="0" cy="145784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288536" y="1965539"/>
            <a:ext cx="91440" cy="0"/>
          </a:xfrm>
          <a:prstGeom prst="line">
            <a:avLst/>
          </a:prstGeom>
          <a:ln w="14604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7_ROB06_hotelling_rate"/>
          <p:cNvSpPr/>
          <p:nvPr/>
        </p:nvSpPr>
        <p:spPr>
          <a:xfrm>
            <a:off x="4279392" y="2056459"/>
            <a:ext cx="109728" cy="10972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7_ROB06_hotelling_label"/>
          <p:cNvSpPr txBox="1"/>
          <p:nvPr/>
        </p:nvSpPr>
        <p:spPr>
          <a:xfrm>
            <a:off x="4180000" y="182000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E69F00"/>
                </a:solidFill>
                <a:latin typeface="Liberation Sans"/>
              </a:rPr>
              <a:t>23.3%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4498848" y="1647489"/>
            <a:ext cx="0" cy="154035"/>
          </a:xfrm>
          <a:prstGeom prst="line">
            <a:avLst/>
          </a:prstGeom>
          <a:ln w="15875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453128" y="1647489"/>
            <a:ext cx="91440" cy="0"/>
          </a:xfrm>
          <a:prstGeom prst="line">
            <a:avLst/>
          </a:prstGeom>
          <a:ln w="14604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7_ROB06_hybrid_rate"/>
          <p:cNvSpPr/>
          <p:nvPr/>
        </p:nvSpPr>
        <p:spPr>
          <a:xfrm>
            <a:off x="4443984" y="1746660"/>
            <a:ext cx="109728" cy="109728"/>
          </a:xfrm>
          <a:prstGeom prst="diamond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7_ROB06_hybrid_label"/>
          <p:cNvSpPr txBox="1"/>
          <p:nvPr/>
        </p:nvSpPr>
        <p:spPr>
          <a:xfrm>
            <a:off x="4475000" y="151500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009E73"/>
                </a:solidFill>
                <a:latin typeface="Liberation Sans"/>
              </a:rPr>
              <a:t>28.2%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401568" y="3268326"/>
            <a:ext cx="1865376" cy="0"/>
          </a:xfrm>
          <a:prstGeom prst="line">
            <a:avLst/>
          </a:prstGeom>
          <a:ln w="13970">
            <a:solidFill>
              <a:srgbClr val="D55E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7B_nominal_label"/>
          <p:cNvSpPr txBox="1"/>
          <p:nvPr/>
        </p:nvSpPr>
        <p:spPr>
          <a:xfrm>
            <a:off x="4617720" y="3039726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D55E00"/>
                </a:solidFill>
                <a:latin typeface="Liberation Sans"/>
              </a:rPr>
              <a:t>nominal 5%</a:t>
            </a:r>
          </a:p>
        </p:txBody>
      </p:sp>
      <p:sp>
        <p:nvSpPr>
          <p:cNvPr id="87" name="F7B_xlabel"/>
          <p:cNvSpPr txBox="1"/>
          <p:nvPr/>
        </p:nvSpPr>
        <p:spPr>
          <a:xfrm>
            <a:off x="3877056" y="3657600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222222"/>
                </a:solidFill>
                <a:latin typeface="Liberation Sans"/>
              </a:rPr>
              <a:t>AR(1)
rho=0.6</a:t>
            </a:r>
          </a:p>
        </p:txBody>
      </p:sp>
      <p:sp>
        <p:nvSpPr>
          <p:cNvPr id="88" name="F7_callout"/>
          <p:cNvSpPr/>
          <p:nvPr/>
        </p:nvSpPr>
        <p:spPr>
          <a:xfrm>
            <a:off x="347472" y="4297680"/>
            <a:ext cx="4974336" cy="347472"/>
          </a:xfrm>
          <a:prstGeom prst="roundRect">
            <a:avLst/>
          </a:prstGeom>
          <a:solidFill>
            <a:srgbClr val="FCE4D6"/>
          </a:solidFill>
          <a:ln w="1016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>
                <a:solidFill>
                  <a:srgbClr val="D55E00"/>
                </a:solidFill>
                <a:latin typeface="Liberation Sans"/>
              </a:rPr>
              <a:t>Strong AR(1) dependence refutes temporal-dependence validity; the conditions are categorical stress tests, not an interpolation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